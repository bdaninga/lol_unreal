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74" r:id="rId5"/>
    <p:sldId id="303" r:id="rId6"/>
    <p:sldId id="275" r:id="rId7"/>
    <p:sldId id="262" r:id="rId8"/>
    <p:sldId id="259" r:id="rId9"/>
    <p:sldId id="315" r:id="rId10"/>
    <p:sldId id="316" r:id="rId11"/>
    <p:sldId id="317" r:id="rId12"/>
    <p:sldId id="260" r:id="rId13"/>
    <p:sldId id="261" r:id="rId14"/>
    <p:sldId id="320" r:id="rId15"/>
    <p:sldId id="318" r:id="rId16"/>
    <p:sldId id="263" r:id="rId17"/>
    <p:sldId id="319" r:id="rId18"/>
    <p:sldId id="267" r:id="rId19"/>
    <p:sldId id="265" r:id="rId20"/>
    <p:sldId id="266" r:id="rId21"/>
    <p:sldId id="302" r:id="rId2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87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178BEF-4638-46C7-9061-6A4AF02E4831}" type="datetimeFigureOut">
              <a:rPr lang="ko-KR" altLang="en-US" smtClean="0"/>
              <a:t>2026-02-12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02764D-09DD-4279-805E-C48DEA7822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325222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02764D-09DD-4279-805E-C48DEA7822B5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719423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AA96075-8276-13D9-A2F2-508C0528BB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50BFFAE-CCE8-20E9-0474-86620F19E9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BDB1957-9D32-676E-A26B-B3D4B56EEF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B96FA-8B41-4960-B0A2-0004DF5104BB}" type="datetimeFigureOut">
              <a:rPr lang="ko-KR" altLang="en-US" smtClean="0"/>
              <a:t>2026-02-12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2FDA57D-352E-DB8C-BEB0-F68D38A2F0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51384BF-875A-A485-F47B-36420BAEC0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6CC56C-8D64-4CCA-BFE4-C3C06C7B2FF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926658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3C86ACD-0AAE-E8C5-4231-D258188037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9A6E728-B39E-A708-0F06-23C87AC50F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F79C8FF-514D-C2DC-9A2D-F562434918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B96FA-8B41-4960-B0A2-0004DF5104BB}" type="datetimeFigureOut">
              <a:rPr lang="ko-KR" altLang="en-US" smtClean="0"/>
              <a:t>2026-02-12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F78C7B4-138F-EDA3-001E-46DF1C524D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C2845BE-EB9B-13F6-40D5-9F8708F1B6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6CC56C-8D64-4CCA-BFE4-C3C06C7B2FF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363422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489EF03-7AB4-D8BB-E529-E64731987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27F5F94-F648-7621-BD4B-383DA46E94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FE307B7-55A8-4719-BA0D-1C626BA3DD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B96FA-8B41-4960-B0A2-0004DF5104BB}" type="datetimeFigureOut">
              <a:rPr lang="ko-KR" altLang="en-US" smtClean="0"/>
              <a:t>2026-02-12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3CC0CC3-0C3C-38D2-0DA2-5ADF3EE791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2EEB100-F3A3-5FF5-D787-55880F5728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6CC56C-8D64-4CCA-BFE4-C3C06C7B2FF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303925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DAEFB2E-16C1-99BB-33FD-D4CF1D224D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198C64F-3287-F158-32DA-3CD06D8B43F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D9D0BFF-2EB2-0585-2504-9B22115779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7604B2E-2AC1-8A25-B2C3-52A4198DFB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B96FA-8B41-4960-B0A2-0004DF5104BB}" type="datetimeFigureOut">
              <a:rPr lang="ko-KR" altLang="en-US" smtClean="0"/>
              <a:t>2026-02-12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3DAF762-AE80-DA92-25AF-0021A44D6A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D271DA5-56F0-D482-4707-B11545AA5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6CC56C-8D64-4CCA-BFE4-C3C06C7B2FF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34837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E3A804B-3BA8-1A75-3EF7-7A2DF05FD4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02C1BF0-C6C2-E68C-E378-89A350F6B2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B42393C-3D36-FD3A-BF2C-A38B6F3957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A73B3C2-FEC0-35EF-0768-A22042B83DB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B4F513C7-863A-69DD-7DBB-87563706EA9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606FC9C5-B388-4681-CB1A-9BF0E94719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B96FA-8B41-4960-B0A2-0004DF5104BB}" type="datetimeFigureOut">
              <a:rPr lang="ko-KR" altLang="en-US" smtClean="0"/>
              <a:t>2026-02-12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F1858A38-418F-1912-00CD-7041B77DD2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FF456985-F880-F5EF-870C-32842D0ED8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6CC56C-8D64-4CCA-BFE4-C3C06C7B2FF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97395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43DFE41-3ACD-1DA9-AF94-953602F07B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76E856FC-151D-E06A-1821-8EBCB0CA71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B96FA-8B41-4960-B0A2-0004DF5104BB}" type="datetimeFigureOut">
              <a:rPr lang="ko-KR" altLang="en-US" smtClean="0"/>
              <a:t>2026-02-12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CB465DD-BAD2-E6E9-EED6-E5190C67FE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70C5AB2-F9FC-E62F-F76A-057AAFD97A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6CC56C-8D64-4CCA-BFE4-C3C06C7B2FF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091963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AB070925-0CE7-96DE-F3C2-F3F15F170D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B96FA-8B41-4960-B0A2-0004DF5104BB}" type="datetimeFigureOut">
              <a:rPr lang="ko-KR" altLang="en-US" smtClean="0"/>
              <a:t>2026-02-12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E91BB473-9773-445C-B1EC-8F55FF7569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BB8AE21-75D3-566B-8F51-6DE63B5EE5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6CC56C-8D64-4CCA-BFE4-C3C06C7B2FF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796227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A34B76A-197F-0765-B1F1-414030EED0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5C4B765-62EF-5726-D20B-A6188AC2AD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D1BFCA4-4DDE-0A65-EBA0-01759FDFBA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5B0C95B-6118-47D5-642C-7217FA6761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B96FA-8B41-4960-B0A2-0004DF5104BB}" type="datetimeFigureOut">
              <a:rPr lang="ko-KR" altLang="en-US" smtClean="0"/>
              <a:t>2026-02-12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3812158-14CC-28F2-92C4-C45D5428FE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479A694-0707-2C02-B679-6B9D88B976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6CC56C-8D64-4CCA-BFE4-C3C06C7B2FF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287726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58A175F-BFFB-E5D0-FDA7-43E0A85D84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B521E8E2-BC68-485C-7A6D-5D16104102B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E3F447D-4AE5-CE93-8270-1E9894A0B4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6F69EB8-26CB-6803-420F-986C009A23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B96FA-8B41-4960-B0A2-0004DF5104BB}" type="datetimeFigureOut">
              <a:rPr lang="ko-KR" altLang="en-US" smtClean="0"/>
              <a:t>2026-02-12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C2AA1A4-C1D7-B8E2-CA6B-B6F6F11EB9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8559DED-C4DC-1F07-3352-FB3590BFB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6CC56C-8D64-4CCA-BFE4-C3C06C7B2FF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9143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F5B1102-72BE-095B-6488-2DCFD260BD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8B94990-90C8-C8BB-4A5B-FC758899F7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03290D2-58C7-69D6-AF48-81D2E2782B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B96FA-8B41-4960-B0A2-0004DF5104BB}" type="datetimeFigureOut">
              <a:rPr lang="ko-KR" altLang="en-US" smtClean="0"/>
              <a:t>2026-02-12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45CE088-A6F7-22C3-BBB0-49C5B907E4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756B5BC-1257-6850-ADAD-109B14A1CB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6CC56C-8D64-4CCA-BFE4-C3C06C7B2FF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05102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F5ECCBB4-C549-F948-6A33-24E8FB1BE09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2731FBC-5E73-7647-AA00-B2908431FA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807ED9A-7CAC-30A3-9ABE-B32FFB5486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B96FA-8B41-4960-B0A2-0004DF5104BB}" type="datetimeFigureOut">
              <a:rPr lang="ko-KR" altLang="en-US" smtClean="0"/>
              <a:t>2026-02-12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E7190C2-B5DB-9F40-E55B-C689013371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995253B-E97F-4094-1B47-00BDD6D462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6CC56C-8D64-4CCA-BFE4-C3C06C7B2FF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414329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9344FE19-C11A-CEF6-B482-A79FEE2549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DBB0835-35DF-8CB3-2246-B691C95EE5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0B22D62-D7E0-3A52-5F2E-2C22BE32634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2AB96FA-8B41-4960-B0A2-0004DF5104BB}" type="datetimeFigureOut">
              <a:rPr lang="ko-KR" altLang="en-US" smtClean="0"/>
              <a:t>2026-02-12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FA7C52A-6F5A-8F54-6765-054559DB96A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9EB4569-1E27-1C88-3247-B3D46A8D57C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76CC56C-8D64-4CCA-BFE4-C3C06C7B2FF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041282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eg"/><Relationship Id="rId13" Type="http://schemas.openxmlformats.org/officeDocument/2006/relationships/image" Target="../media/image14.jpeg"/><Relationship Id="rId18" Type="http://schemas.openxmlformats.org/officeDocument/2006/relationships/image" Target="../media/image19.jpeg"/><Relationship Id="rId3" Type="http://schemas.openxmlformats.org/officeDocument/2006/relationships/image" Target="../media/image4.jpeg"/><Relationship Id="rId7" Type="http://schemas.openxmlformats.org/officeDocument/2006/relationships/image" Target="../media/image8.jpeg"/><Relationship Id="rId12" Type="http://schemas.openxmlformats.org/officeDocument/2006/relationships/image" Target="../media/image13.jpeg"/><Relationship Id="rId17" Type="http://schemas.openxmlformats.org/officeDocument/2006/relationships/image" Target="../media/image18.jpeg"/><Relationship Id="rId2" Type="http://schemas.openxmlformats.org/officeDocument/2006/relationships/image" Target="../media/image3.jpeg"/><Relationship Id="rId16" Type="http://schemas.openxmlformats.org/officeDocument/2006/relationships/image" Target="../media/image17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jpeg"/><Relationship Id="rId11" Type="http://schemas.openxmlformats.org/officeDocument/2006/relationships/image" Target="../media/image12.jpeg"/><Relationship Id="rId5" Type="http://schemas.openxmlformats.org/officeDocument/2006/relationships/image" Target="../media/image6.jpeg"/><Relationship Id="rId15" Type="http://schemas.openxmlformats.org/officeDocument/2006/relationships/image" Target="../media/image16.jpeg"/><Relationship Id="rId10" Type="http://schemas.openxmlformats.org/officeDocument/2006/relationships/image" Target="../media/image11.jpeg"/><Relationship Id="rId19" Type="http://schemas.openxmlformats.org/officeDocument/2006/relationships/image" Target="../media/image20.jpeg"/><Relationship Id="rId4" Type="http://schemas.openxmlformats.org/officeDocument/2006/relationships/image" Target="../media/image5.jpeg"/><Relationship Id="rId9" Type="http://schemas.openxmlformats.org/officeDocument/2006/relationships/image" Target="../media/image10.jpeg"/><Relationship Id="rId14" Type="http://schemas.openxmlformats.org/officeDocument/2006/relationships/image" Target="../media/image15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5C95E96-87DA-FECB-2253-B768DBF9941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ko-KR" sz="5400" b="1" dirty="0"/>
              <a:t>League</a:t>
            </a:r>
            <a:r>
              <a:rPr lang="ko-KR" altLang="en-US" sz="5400" b="1" dirty="0"/>
              <a:t> </a:t>
            </a:r>
            <a:r>
              <a:rPr lang="en-US" altLang="ko-KR" sz="5400" b="1" dirty="0"/>
              <a:t>Of Legend: Unreal</a:t>
            </a:r>
            <a:endParaRPr lang="ko-KR" altLang="en-US" sz="5400" b="1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980CCF9-7B68-0D64-0453-8A7347F6E5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61382" y="5202238"/>
            <a:ext cx="4276436" cy="1655762"/>
          </a:xfrm>
        </p:spPr>
        <p:txBody>
          <a:bodyPr/>
          <a:lstStyle/>
          <a:p>
            <a:pPr algn="r"/>
            <a:r>
              <a:rPr lang="ko-KR" altLang="en-US" b="1" dirty="0" err="1"/>
              <a:t>한상현</a:t>
            </a:r>
            <a:r>
              <a:rPr lang="ko-KR" altLang="en-US" b="1" dirty="0"/>
              <a:t> </a:t>
            </a:r>
            <a:endParaRPr lang="en-US" altLang="ko-KR" b="1" dirty="0"/>
          </a:p>
          <a:p>
            <a:pPr algn="r"/>
            <a:r>
              <a:rPr lang="ko-KR" altLang="en-US" b="1" dirty="0"/>
              <a:t>박지훈 </a:t>
            </a:r>
            <a:endParaRPr lang="en-US" altLang="ko-KR" b="1" dirty="0"/>
          </a:p>
          <a:p>
            <a:pPr algn="r"/>
            <a:r>
              <a:rPr lang="ko-KR" altLang="en-US" b="1" dirty="0"/>
              <a:t>임성훈</a:t>
            </a:r>
          </a:p>
        </p:txBody>
      </p:sp>
    </p:spTree>
    <p:extLst>
      <p:ext uri="{BB962C8B-B14F-4D97-AF65-F5344CB8AC3E}">
        <p14:creationId xmlns:p14="http://schemas.microsoft.com/office/powerpoint/2010/main" val="15167361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075CA5C-0EF3-1637-9367-28458EBA65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/>
              <a:t>목차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0622D20-5792-2C2A-BF1E-58DBBFB135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ko-KR" b="1" dirty="0"/>
              <a:t>1. </a:t>
            </a:r>
            <a:r>
              <a:rPr lang="ko-KR" altLang="en-US" b="1" dirty="0"/>
              <a:t>연구 목적</a:t>
            </a:r>
            <a:endParaRPr lang="en-US" altLang="ko-KR" b="1" dirty="0"/>
          </a:p>
          <a:p>
            <a:r>
              <a:rPr lang="en-US" altLang="ko-KR" b="1" dirty="0"/>
              <a:t>2. </a:t>
            </a:r>
            <a:r>
              <a:rPr lang="ko-KR" altLang="en-US" b="1" dirty="0"/>
              <a:t>게임 소개</a:t>
            </a:r>
            <a:endParaRPr lang="en-US" altLang="ko-KR" b="1" dirty="0"/>
          </a:p>
          <a:p>
            <a:pPr lvl="1"/>
            <a:r>
              <a:rPr lang="ko-KR" altLang="en-US" b="1" dirty="0"/>
              <a:t>간단 설명</a:t>
            </a:r>
            <a:endParaRPr lang="en-US" altLang="ko-KR" b="1" dirty="0"/>
          </a:p>
          <a:p>
            <a:pPr lvl="1"/>
            <a:r>
              <a:rPr lang="ko-KR" altLang="en-US" b="1" dirty="0"/>
              <a:t>게임 흐름도</a:t>
            </a:r>
            <a:endParaRPr lang="en-US" altLang="ko-KR" b="1" dirty="0"/>
          </a:p>
          <a:p>
            <a:pPr lvl="1"/>
            <a:r>
              <a:rPr lang="ko-KR" altLang="en-US" b="1" dirty="0"/>
              <a:t>맵 소개</a:t>
            </a:r>
            <a:endParaRPr lang="en-US" altLang="ko-KR" b="1" dirty="0"/>
          </a:p>
          <a:p>
            <a:pPr lvl="1"/>
            <a:r>
              <a:rPr lang="ko-KR" altLang="en-US" b="1" dirty="0"/>
              <a:t>게임 컨텐츠</a:t>
            </a:r>
            <a:endParaRPr lang="en-US" altLang="ko-KR" b="1" dirty="0"/>
          </a:p>
          <a:p>
            <a:pPr lvl="1"/>
            <a:r>
              <a:rPr lang="ko-KR" altLang="en-US" b="1" dirty="0"/>
              <a:t>조작법</a:t>
            </a:r>
            <a:endParaRPr lang="en-US" altLang="ko-KR" b="1" dirty="0"/>
          </a:p>
          <a:p>
            <a:r>
              <a:rPr lang="en-US" altLang="ko-KR" b="1" dirty="0"/>
              <a:t>3. </a:t>
            </a:r>
            <a:r>
              <a:rPr lang="ko-KR" altLang="en-US" b="1" dirty="0"/>
              <a:t>기술적 요소 및 중점 연구 분야</a:t>
            </a:r>
            <a:endParaRPr lang="en-US" altLang="ko-KR" b="1" dirty="0"/>
          </a:p>
          <a:p>
            <a:r>
              <a:rPr lang="en-US" altLang="ko-KR" b="1" dirty="0"/>
              <a:t>4. </a:t>
            </a:r>
            <a:r>
              <a:rPr lang="ko-KR" altLang="en-US" b="1" dirty="0"/>
              <a:t>개발 환경</a:t>
            </a:r>
            <a:endParaRPr lang="en-US" altLang="ko-KR" b="1" dirty="0"/>
          </a:p>
          <a:p>
            <a:r>
              <a:rPr lang="en-US" altLang="ko-KR" b="1" dirty="0"/>
              <a:t>5. </a:t>
            </a:r>
            <a:r>
              <a:rPr lang="ko-KR" altLang="en-US" b="1" dirty="0"/>
              <a:t>개인별 준비 현황</a:t>
            </a:r>
            <a:endParaRPr lang="en-US" altLang="ko-KR" b="1" dirty="0"/>
          </a:p>
          <a:p>
            <a:r>
              <a:rPr lang="en-US" altLang="ko-KR" b="1" dirty="0"/>
              <a:t>6. </a:t>
            </a:r>
            <a:r>
              <a:rPr lang="ko-KR" altLang="en-US" b="1" dirty="0"/>
              <a:t>역할 분담 및 일정</a:t>
            </a:r>
          </a:p>
        </p:txBody>
      </p:sp>
    </p:spTree>
    <p:extLst>
      <p:ext uri="{BB962C8B-B14F-4D97-AF65-F5344CB8AC3E}">
        <p14:creationId xmlns:p14="http://schemas.microsoft.com/office/powerpoint/2010/main" val="40355699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01F6EA3-1B79-82F1-FF74-98F409B046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/>
              <a:t>연구 목적</a:t>
            </a:r>
            <a:r>
              <a:rPr lang="en-US" altLang="ko-KR" b="1" dirty="0"/>
              <a:t>(</a:t>
            </a:r>
            <a:r>
              <a:rPr lang="ko-KR" altLang="en-US" b="1" dirty="0"/>
              <a:t>추가할 내용 있으면 생각</a:t>
            </a:r>
            <a:r>
              <a:rPr lang="en-US" altLang="ko-KR" b="1" dirty="0"/>
              <a:t>)</a:t>
            </a:r>
            <a:endParaRPr lang="ko-KR" altLang="en-US" b="1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7BBA8EE-85FC-3FB2-E30A-1BA1F7EC3F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88655"/>
            <a:ext cx="10515600" cy="4588308"/>
          </a:xfrm>
        </p:spPr>
        <p:txBody>
          <a:bodyPr anchor="ctr">
            <a:normAutofit/>
          </a:bodyPr>
          <a:lstStyle/>
          <a:p>
            <a:endParaRPr lang="en-US" altLang="ko-KR" b="1" dirty="0"/>
          </a:p>
          <a:p>
            <a:r>
              <a:rPr lang="en-US" altLang="ko-KR" b="1" dirty="0"/>
              <a:t>MOBA </a:t>
            </a:r>
            <a:r>
              <a:rPr lang="ko-KR" altLang="en-US" b="1" dirty="0"/>
              <a:t>장르의 공정성과 신뢰도를 확보하기 위한 방안을 연구하기 위해</a:t>
            </a:r>
            <a:r>
              <a:rPr lang="en-US" altLang="ko-KR" b="1" dirty="0"/>
              <a:t>,</a:t>
            </a:r>
            <a:r>
              <a:rPr lang="ko-KR" altLang="en-US" b="1" dirty="0"/>
              <a:t> 해당 요소가 잘 녹아 있는 리그 오브 레전드를 모델로 선정해 </a:t>
            </a:r>
            <a:r>
              <a:rPr lang="ko-KR" altLang="en-US" b="1" dirty="0" err="1"/>
              <a:t>언리얼</a:t>
            </a:r>
            <a:r>
              <a:rPr lang="ko-KR" altLang="en-US" b="1" dirty="0"/>
              <a:t> 엔진 기반으로 구현 및 검증한다</a:t>
            </a:r>
            <a:r>
              <a:rPr lang="en-US" altLang="ko-KR" b="1" dirty="0"/>
              <a:t>.</a:t>
            </a:r>
          </a:p>
          <a:p>
            <a:pPr marL="0" indent="0">
              <a:buNone/>
            </a:pPr>
            <a:endParaRPr lang="en-US" altLang="ko-KR" b="1" dirty="0"/>
          </a:p>
          <a:p>
            <a:pPr marL="0" indent="0">
              <a:buNone/>
            </a:pPr>
            <a:endParaRPr lang="en-US" altLang="ko-KR" b="1" dirty="0"/>
          </a:p>
          <a:p>
            <a:r>
              <a:rPr lang="ko-KR" altLang="en-US" sz="1400" b="1" dirty="0"/>
              <a:t>공정성은 모든 유저가 네트워크 환경이나 하드웨어 성능에 관계없이</a:t>
            </a:r>
            <a:r>
              <a:rPr lang="en-US" altLang="ko-KR" sz="1400" b="1" dirty="0"/>
              <a:t>, </a:t>
            </a:r>
            <a:r>
              <a:rPr lang="ko-KR" altLang="en-US" sz="1400" b="1" dirty="0"/>
              <a:t>동일한 조건에서 경쟁할 수 있는 환경을 말함</a:t>
            </a:r>
            <a:endParaRPr lang="en-US" altLang="ko-KR" sz="1400" b="1" dirty="0"/>
          </a:p>
          <a:p>
            <a:r>
              <a:rPr lang="ko-KR" altLang="en-US" sz="1400" b="1" dirty="0"/>
              <a:t>신뢰도는 게임 내 모든 판정과 데이터 처리가 서버의 통제 하에 설계된 대로 정확하고 일관되게 작동하는 상태를 말함</a:t>
            </a:r>
            <a:endParaRPr lang="en-US" altLang="ko-KR" sz="1400" b="1" dirty="0"/>
          </a:p>
        </p:txBody>
      </p:sp>
    </p:spTree>
    <p:extLst>
      <p:ext uri="{BB962C8B-B14F-4D97-AF65-F5344CB8AC3E}">
        <p14:creationId xmlns:p14="http://schemas.microsoft.com/office/powerpoint/2010/main" val="16967659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AEB313B-32AA-F786-A549-EA8A72FA3E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/>
              <a:t>게임 소개</a:t>
            </a:r>
            <a:r>
              <a:rPr lang="en-US" altLang="ko-KR" sz="3200" b="1" dirty="0"/>
              <a:t>(</a:t>
            </a:r>
            <a:r>
              <a:rPr lang="ko-KR" altLang="en-US" sz="3200" b="1" dirty="0"/>
              <a:t>간단 설명</a:t>
            </a:r>
            <a:r>
              <a:rPr lang="en-US" altLang="ko-KR" sz="3200" b="1" dirty="0"/>
              <a:t>)</a:t>
            </a:r>
            <a:endParaRPr lang="ko-KR" altLang="en-US" b="1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A93E2F6-AF98-CD5D-3EE7-AACAF5DAA6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78765" y="2677891"/>
            <a:ext cx="5775035" cy="3563072"/>
          </a:xfrm>
        </p:spPr>
        <p:txBody>
          <a:bodyPr>
            <a:normAutofit/>
          </a:bodyPr>
          <a:lstStyle/>
          <a:p>
            <a:r>
              <a:rPr lang="ko-KR" altLang="en-US" sz="2000" b="1" dirty="0"/>
              <a:t>리그 오브 레전드는 플레이어가 각기 다른 능력을 지닌 캐릭터를 선택해 </a:t>
            </a:r>
            <a:r>
              <a:rPr lang="en-US" altLang="ko-KR" sz="2000" b="1" dirty="0"/>
              <a:t>5 VS 5</a:t>
            </a:r>
            <a:r>
              <a:rPr lang="ko-KR" altLang="en-US" sz="2000" b="1" dirty="0"/>
              <a:t>로 경쟁하는 게임이다</a:t>
            </a:r>
            <a:r>
              <a:rPr lang="en-US" altLang="ko-KR" sz="2000" b="1" dirty="0"/>
              <a:t>.</a:t>
            </a:r>
            <a:br>
              <a:rPr lang="en-US" altLang="ko-KR" sz="2000" b="1" dirty="0"/>
            </a:br>
            <a:endParaRPr lang="en-US" altLang="ko-KR" sz="2000" b="1" dirty="0"/>
          </a:p>
          <a:p>
            <a:r>
              <a:rPr lang="ko-KR" altLang="en-US" sz="2000" b="1" dirty="0" err="1"/>
              <a:t>맵에</a:t>
            </a:r>
            <a:r>
              <a:rPr lang="ko-KR" altLang="en-US" sz="2000" b="1" dirty="0"/>
              <a:t> 있는 요소</a:t>
            </a:r>
            <a:r>
              <a:rPr lang="en-US" altLang="ko-KR" sz="2000" b="1" dirty="0"/>
              <a:t>(</a:t>
            </a:r>
            <a:r>
              <a:rPr lang="ko-KR" altLang="en-US" sz="2000" b="1" dirty="0"/>
              <a:t>중립 몬스터</a:t>
            </a:r>
            <a:r>
              <a:rPr lang="en-US" altLang="ko-KR" sz="2000" b="1" dirty="0"/>
              <a:t>, </a:t>
            </a:r>
            <a:r>
              <a:rPr lang="ko-KR" altLang="en-US" sz="2000" b="1" dirty="0"/>
              <a:t>공격로 몬스터</a:t>
            </a:r>
            <a:r>
              <a:rPr lang="en-US" altLang="ko-KR" sz="2000" b="1" dirty="0"/>
              <a:t>)</a:t>
            </a:r>
            <a:r>
              <a:rPr lang="ko-KR" altLang="en-US" sz="2000" b="1" dirty="0"/>
              <a:t>를 통해 골드와 경험치를 모아 캐릭터를 성장시키고 전략적으로 전투를 펼쳐</a:t>
            </a:r>
            <a:r>
              <a:rPr lang="en-US" altLang="ko-KR" sz="2000" b="1" dirty="0"/>
              <a:t>, </a:t>
            </a:r>
            <a:r>
              <a:rPr lang="ko-KR" altLang="en-US" sz="2000" b="1" dirty="0"/>
              <a:t>상대 팀의 방어를 돌파해 기지를 파괴하는 것이 목표다</a:t>
            </a:r>
            <a:r>
              <a:rPr lang="en-US" altLang="ko-KR" sz="2000" b="1" dirty="0"/>
              <a:t>. </a:t>
            </a:r>
            <a:r>
              <a:rPr lang="ko-KR" altLang="en-US" sz="2000" b="1" dirty="0"/>
              <a:t>게임은 시간 흐름에 따른 단계별 전투와 전략적 판단이 중요하다</a:t>
            </a:r>
            <a:r>
              <a:rPr lang="en-US" altLang="ko-KR" sz="2000" b="1" dirty="0"/>
              <a:t>.</a:t>
            </a:r>
            <a:endParaRPr lang="ko-KR" altLang="en-US" sz="2000" b="1" dirty="0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AE516B1E-E948-E181-09AF-92C7B12D0832}"/>
              </a:ext>
            </a:extLst>
          </p:cNvPr>
          <p:cNvSpPr txBox="1"/>
          <p:nvPr/>
        </p:nvSpPr>
        <p:spPr>
          <a:xfrm>
            <a:off x="5578765" y="1840016"/>
            <a:ext cx="511875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/>
              <a:t>장르</a:t>
            </a:r>
            <a:r>
              <a:rPr lang="en-US" altLang="ko-KR" sz="2000" b="1" dirty="0"/>
              <a:t>: MOBA(AOS)</a:t>
            </a:r>
          </a:p>
          <a:p>
            <a:r>
              <a:rPr lang="ko-KR" altLang="en-US" sz="2000" b="1" dirty="0"/>
              <a:t>최대 플레이어</a:t>
            </a:r>
            <a:r>
              <a:rPr lang="en-US" altLang="ko-KR" sz="2000" b="1" dirty="0"/>
              <a:t>:</a:t>
            </a:r>
            <a:r>
              <a:rPr lang="ko-KR" altLang="en-US" sz="2000" b="1" dirty="0"/>
              <a:t> </a:t>
            </a:r>
            <a:r>
              <a:rPr lang="en-US" altLang="ko-KR" sz="2000" b="1" dirty="0"/>
              <a:t>10</a:t>
            </a:r>
            <a:r>
              <a:rPr lang="ko-KR" altLang="en-US" sz="2000" b="1" dirty="0"/>
              <a:t>명</a:t>
            </a:r>
            <a:r>
              <a:rPr lang="en-US" altLang="ko-KR" sz="2000" b="1" dirty="0"/>
              <a:t>	</a:t>
            </a:r>
            <a:endParaRPr lang="ko-KR" altLang="en-US" sz="2000" b="1" dirty="0"/>
          </a:p>
        </p:txBody>
      </p:sp>
      <p:pic>
        <p:nvPicPr>
          <p:cNvPr id="1026" name="Picture 2" descr="롤 라인전 관리 및 운영 : 네이버 블로그">
            <a:extLst>
              <a:ext uri="{FF2B5EF4-FFF2-40B4-BE49-F238E27FC236}">
                <a16:creationId xmlns:a16="http://schemas.microsoft.com/office/drawing/2014/main" id="{19A6B2D2-8C7D-FB58-BB6C-DBBC6747B8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2677891"/>
            <a:ext cx="4687239" cy="28454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725450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6FBC65E2-3714-F2D2-6874-A872B12E0348}"/>
              </a:ext>
            </a:extLst>
          </p:cNvPr>
          <p:cNvSpPr/>
          <p:nvPr/>
        </p:nvSpPr>
        <p:spPr>
          <a:xfrm>
            <a:off x="361900" y="5283200"/>
            <a:ext cx="4502330" cy="116181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E50C7818-139E-ACE1-709F-3BCCE2E0D3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/>
              <a:t>게임 소개</a:t>
            </a:r>
            <a:r>
              <a:rPr lang="en-US" altLang="ko-KR" sz="3200" b="1" dirty="0"/>
              <a:t>(</a:t>
            </a:r>
            <a:r>
              <a:rPr lang="ko-KR" altLang="en-US" sz="3200" b="1" dirty="0"/>
              <a:t>게임 흐름도</a:t>
            </a:r>
            <a:r>
              <a:rPr lang="en-US" altLang="ko-KR" sz="3200" b="1" dirty="0"/>
              <a:t>)</a:t>
            </a:r>
            <a:endParaRPr lang="ko-KR" altLang="en-US" b="1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0C9CB74B-1C27-430C-9353-3839444A6451}"/>
              </a:ext>
            </a:extLst>
          </p:cNvPr>
          <p:cNvSpPr/>
          <p:nvPr/>
        </p:nvSpPr>
        <p:spPr>
          <a:xfrm>
            <a:off x="361899" y="2085030"/>
            <a:ext cx="4502331" cy="311530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B782E656-1E00-808D-BC65-41076BE4F673}"/>
              </a:ext>
            </a:extLst>
          </p:cNvPr>
          <p:cNvCxnSpPr>
            <a:cxnSpLocks/>
            <a:stCxn id="52" idx="2"/>
            <a:endCxn id="45" idx="0"/>
          </p:cNvCxnSpPr>
          <p:nvPr/>
        </p:nvCxnSpPr>
        <p:spPr>
          <a:xfrm>
            <a:off x="3773712" y="3192243"/>
            <a:ext cx="3770" cy="38947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70ED6D24-4322-BE33-48D9-64DF98496B23}"/>
              </a:ext>
            </a:extLst>
          </p:cNvPr>
          <p:cNvCxnSpPr>
            <a:cxnSpLocks/>
            <a:stCxn id="45" idx="2"/>
            <a:endCxn id="43" idx="0"/>
          </p:cNvCxnSpPr>
          <p:nvPr/>
        </p:nvCxnSpPr>
        <p:spPr>
          <a:xfrm flipH="1">
            <a:off x="3773712" y="3951049"/>
            <a:ext cx="3770" cy="34718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42901DC9-3C78-6D07-CB85-3C204FFE8DD8}"/>
              </a:ext>
            </a:extLst>
          </p:cNvPr>
          <p:cNvCxnSpPr>
            <a:cxnSpLocks/>
            <a:endCxn id="36" idx="0"/>
          </p:cNvCxnSpPr>
          <p:nvPr/>
        </p:nvCxnSpPr>
        <p:spPr>
          <a:xfrm>
            <a:off x="3773712" y="4490599"/>
            <a:ext cx="0" cy="113300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8A2D48AD-55AB-145D-AFCE-C82252F260EF}"/>
              </a:ext>
            </a:extLst>
          </p:cNvPr>
          <p:cNvCxnSpPr>
            <a:cxnSpLocks/>
            <a:stCxn id="36" idx="1"/>
          </p:cNvCxnSpPr>
          <p:nvPr/>
        </p:nvCxnSpPr>
        <p:spPr>
          <a:xfrm flipH="1">
            <a:off x="1573083" y="5808271"/>
            <a:ext cx="1267394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4C3EE414-D0AA-6967-73A1-7F7F7DE0BCF5}"/>
              </a:ext>
            </a:extLst>
          </p:cNvPr>
          <p:cNvCxnSpPr>
            <a:cxnSpLocks/>
            <a:endCxn id="56" idx="2"/>
          </p:cNvCxnSpPr>
          <p:nvPr/>
        </p:nvCxnSpPr>
        <p:spPr>
          <a:xfrm flipV="1">
            <a:off x="1573083" y="3951049"/>
            <a:ext cx="0" cy="185722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43DC4B7D-E172-CF98-DED4-F398DA571971}"/>
              </a:ext>
            </a:extLst>
          </p:cNvPr>
          <p:cNvCxnSpPr>
            <a:cxnSpLocks/>
            <a:stCxn id="56" idx="3"/>
            <a:endCxn id="45" idx="1"/>
          </p:cNvCxnSpPr>
          <p:nvPr/>
        </p:nvCxnSpPr>
        <p:spPr>
          <a:xfrm>
            <a:off x="2506318" y="3766383"/>
            <a:ext cx="33792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475CD5DD-AC3F-59C6-7BCC-8CDD0ED778B6}"/>
              </a:ext>
            </a:extLst>
          </p:cNvPr>
          <p:cNvSpPr txBox="1"/>
          <p:nvPr/>
        </p:nvSpPr>
        <p:spPr>
          <a:xfrm>
            <a:off x="3239026" y="2113174"/>
            <a:ext cx="15723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Game Ready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299AF2D-48E7-3828-AFBA-6016E96301A7}"/>
              </a:ext>
            </a:extLst>
          </p:cNvPr>
          <p:cNvSpPr txBox="1"/>
          <p:nvPr/>
        </p:nvSpPr>
        <p:spPr>
          <a:xfrm>
            <a:off x="3564191" y="6058667"/>
            <a:ext cx="11427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In-Game</a:t>
            </a:r>
            <a:endParaRPr lang="ko-KR" altLang="en-US" b="1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0E405F1-CEFD-C659-98E2-D72B353C9433}"/>
              </a:ext>
            </a:extLst>
          </p:cNvPr>
          <p:cNvSpPr txBox="1"/>
          <p:nvPr/>
        </p:nvSpPr>
        <p:spPr>
          <a:xfrm>
            <a:off x="3239026" y="5057043"/>
            <a:ext cx="1054085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ko-KR" b="1" dirty="0"/>
              <a:t>Loading</a:t>
            </a:r>
            <a:endParaRPr lang="ko-KR" altLang="en-US" b="1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2A6885F-8B05-E912-CD3E-916B31C69D9F}"/>
              </a:ext>
            </a:extLst>
          </p:cNvPr>
          <p:cNvSpPr txBox="1"/>
          <p:nvPr/>
        </p:nvSpPr>
        <p:spPr>
          <a:xfrm>
            <a:off x="5241633" y="5449545"/>
            <a:ext cx="56564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/>
              <a:t>기존 게임은 </a:t>
            </a:r>
            <a:r>
              <a:rPr lang="en-US" altLang="ko-KR" sz="1200" b="1" dirty="0"/>
              <a:t>Game Ready </a:t>
            </a:r>
            <a:r>
              <a:rPr lang="ko-KR" altLang="en-US" sz="1200" b="1" dirty="0"/>
              <a:t>부분과 </a:t>
            </a:r>
            <a:r>
              <a:rPr lang="en-US" altLang="ko-KR" sz="1200" b="1" dirty="0"/>
              <a:t>In-Game </a:t>
            </a:r>
            <a:r>
              <a:rPr lang="ko-KR" altLang="en-US" sz="1200" b="1" dirty="0"/>
              <a:t>부분의 하는 역할이 나뉘어져 있어</a:t>
            </a:r>
            <a:r>
              <a:rPr lang="en-US" altLang="ko-KR" sz="1200" b="1" dirty="0"/>
              <a:t>,</a:t>
            </a:r>
            <a:r>
              <a:rPr lang="ko-KR" altLang="en-US" sz="1200" b="1" dirty="0"/>
              <a:t> </a:t>
            </a:r>
            <a:r>
              <a:rPr lang="en-US" altLang="ko-KR" sz="1200" b="1" dirty="0"/>
              <a:t>2</a:t>
            </a:r>
            <a:r>
              <a:rPr lang="ko-KR" altLang="en-US" sz="1200" b="1" dirty="0"/>
              <a:t>개의 서버</a:t>
            </a:r>
            <a:r>
              <a:rPr lang="en-US" altLang="ko-KR" sz="1200" b="1" dirty="0"/>
              <a:t>(Lobby Server/Game Server)</a:t>
            </a:r>
            <a:r>
              <a:rPr lang="ko-KR" altLang="en-US" sz="1200" b="1" dirty="0"/>
              <a:t>로 나누어져 있다</a:t>
            </a:r>
            <a:r>
              <a:rPr lang="en-US" altLang="ko-KR" sz="1200" b="1" dirty="0"/>
              <a:t>. </a:t>
            </a:r>
          </a:p>
          <a:p>
            <a:r>
              <a:rPr lang="ko-KR" altLang="en-US" sz="1200" b="1" dirty="0"/>
              <a:t>본 작품에서는 </a:t>
            </a:r>
            <a:r>
              <a:rPr lang="en-US" altLang="ko-KR" sz="1200" b="1" dirty="0"/>
              <a:t>2</a:t>
            </a:r>
            <a:r>
              <a:rPr lang="ko-KR" altLang="en-US" sz="1200" b="1" dirty="0"/>
              <a:t>개로 나눌 필요성이 없어 </a:t>
            </a:r>
            <a:r>
              <a:rPr lang="en-US" altLang="ko-KR" sz="1200" b="1" dirty="0"/>
              <a:t>1</a:t>
            </a:r>
            <a:r>
              <a:rPr lang="ko-KR" altLang="en-US" sz="1200" b="1" dirty="0"/>
              <a:t>개의 서버로 통합해 구현한다</a:t>
            </a:r>
            <a:r>
              <a:rPr lang="en-US" altLang="ko-KR" sz="1200" b="1" dirty="0"/>
              <a:t>.</a:t>
            </a:r>
            <a:endParaRPr lang="ko-KR" altLang="en-US" sz="1200" b="1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F3E7B24-5D87-745E-709C-5CFE6FC27490}"/>
              </a:ext>
            </a:extLst>
          </p:cNvPr>
          <p:cNvSpPr txBox="1"/>
          <p:nvPr/>
        </p:nvSpPr>
        <p:spPr>
          <a:xfrm>
            <a:off x="2840477" y="5623605"/>
            <a:ext cx="1866470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b="1" dirty="0"/>
              <a:t>게임 시작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F482BEA-AB9F-AC27-0288-92AE52F90C84}"/>
              </a:ext>
            </a:extLst>
          </p:cNvPr>
          <p:cNvSpPr txBox="1"/>
          <p:nvPr/>
        </p:nvSpPr>
        <p:spPr>
          <a:xfrm>
            <a:off x="2840477" y="4298237"/>
            <a:ext cx="1866470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b="1" dirty="0"/>
              <a:t>게임 준비 단계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6D7A0FC-AE6C-0DCA-9A3F-5AB7740679E8}"/>
              </a:ext>
            </a:extLst>
          </p:cNvPr>
          <p:cNvSpPr txBox="1"/>
          <p:nvPr/>
        </p:nvSpPr>
        <p:spPr>
          <a:xfrm>
            <a:off x="2844247" y="3581717"/>
            <a:ext cx="1866470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b="1" dirty="0"/>
              <a:t>게임 로비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26356505-A047-6FF3-9507-2CE937CCD377}"/>
              </a:ext>
            </a:extLst>
          </p:cNvPr>
          <p:cNvSpPr txBox="1"/>
          <p:nvPr/>
        </p:nvSpPr>
        <p:spPr>
          <a:xfrm>
            <a:off x="2840477" y="2822911"/>
            <a:ext cx="1866470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b="1" dirty="0"/>
              <a:t>로그인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26EC7DE-5AB1-7CB1-1374-CB05D8BE2A58}"/>
              </a:ext>
            </a:extLst>
          </p:cNvPr>
          <p:cNvSpPr txBox="1"/>
          <p:nvPr/>
        </p:nvSpPr>
        <p:spPr>
          <a:xfrm>
            <a:off x="639848" y="3581717"/>
            <a:ext cx="1866470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b="1" dirty="0"/>
              <a:t>결과 창</a:t>
            </a:r>
          </a:p>
        </p:txBody>
      </p:sp>
      <p:cxnSp>
        <p:nvCxnSpPr>
          <p:cNvPr id="57" name="직선 화살표 연결선 56">
            <a:extLst>
              <a:ext uri="{FF2B5EF4-FFF2-40B4-BE49-F238E27FC236}">
                <a16:creationId xmlns:a16="http://schemas.microsoft.com/office/drawing/2014/main" id="{544A2AE7-F735-4FAF-B60C-0693D50C233F}"/>
              </a:ext>
            </a:extLst>
          </p:cNvPr>
          <p:cNvCxnSpPr>
            <a:cxnSpLocks/>
            <a:stCxn id="36" idx="3"/>
          </p:cNvCxnSpPr>
          <p:nvPr/>
        </p:nvCxnSpPr>
        <p:spPr>
          <a:xfrm flipV="1">
            <a:off x="4706947" y="3084945"/>
            <a:ext cx="495212" cy="272332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aphicFrame>
        <p:nvGraphicFramePr>
          <p:cNvPr id="61" name="표 60">
            <a:extLst>
              <a:ext uri="{FF2B5EF4-FFF2-40B4-BE49-F238E27FC236}">
                <a16:creationId xmlns:a16="http://schemas.microsoft.com/office/drawing/2014/main" id="{86DEDC52-9BBB-F290-398B-3B6114222E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6825345"/>
              </p:ext>
            </p:extLst>
          </p:nvPr>
        </p:nvGraphicFramePr>
        <p:xfrm>
          <a:off x="5201428" y="2085029"/>
          <a:ext cx="5696647" cy="290130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96939">
                  <a:extLst>
                    <a:ext uri="{9D8B030D-6E8A-4147-A177-3AD203B41FA5}">
                      <a16:colId xmlns:a16="http://schemas.microsoft.com/office/drawing/2014/main" val="2472870437"/>
                    </a:ext>
                  </a:extLst>
                </a:gridCol>
                <a:gridCol w="4599708">
                  <a:extLst>
                    <a:ext uri="{9D8B030D-6E8A-4147-A177-3AD203B41FA5}">
                      <a16:colId xmlns:a16="http://schemas.microsoft.com/office/drawing/2014/main" val="2132079381"/>
                    </a:ext>
                  </a:extLst>
                </a:gridCol>
              </a:tblGrid>
              <a:tr h="445735">
                <a:tc gridSpan="2">
                  <a:txBody>
                    <a:bodyPr/>
                    <a:lstStyle/>
                    <a:p>
                      <a:pPr algn="r" latinLnBrk="1"/>
                      <a:r>
                        <a:rPr lang="en-US" altLang="ko-KR" sz="2000" b="1" dirty="0"/>
                        <a:t>In-Game</a:t>
                      </a:r>
                      <a:endParaRPr lang="ko-KR" altLang="en-US" sz="1800" b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6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3364924"/>
                  </a:ext>
                </a:extLst>
              </a:tr>
              <a:tr h="39168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1" dirty="0"/>
                        <a:t>시간</a:t>
                      </a:r>
                      <a:r>
                        <a:rPr lang="en-US" altLang="ko-KR" sz="1600" b="1" dirty="0"/>
                        <a:t>(</a:t>
                      </a:r>
                      <a:r>
                        <a:rPr lang="ko-KR" altLang="en-US" sz="1600" b="1" dirty="0"/>
                        <a:t>분</a:t>
                      </a:r>
                      <a:r>
                        <a:rPr lang="en-US" altLang="ko-KR" sz="1600" b="1" dirty="0"/>
                        <a:t>)</a:t>
                      </a:r>
                      <a:endParaRPr lang="ko-KR" alt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1" dirty="0"/>
                        <a:t>인 게임 흐름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9951212"/>
                  </a:ext>
                </a:extLst>
              </a:tr>
              <a:tr h="36642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1"/>
                        <a:t>0~5</a:t>
                      </a:r>
                      <a:endParaRPr lang="ko-KR" alt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1" dirty="0"/>
                        <a:t>초반 </a:t>
                      </a:r>
                      <a:r>
                        <a:rPr lang="ko-KR" altLang="en-US" sz="1600" b="1" dirty="0" err="1"/>
                        <a:t>라인전</a:t>
                      </a:r>
                      <a:r>
                        <a:rPr lang="ko-KR" altLang="en-US" sz="1600" b="1" dirty="0"/>
                        <a:t> 준비 </a:t>
                      </a:r>
                      <a:r>
                        <a:rPr lang="en-US" altLang="ko-KR" sz="1600" b="1" dirty="0"/>
                        <a:t>&amp; </a:t>
                      </a:r>
                      <a:r>
                        <a:rPr lang="ko-KR" altLang="en-US" sz="1600" b="1" dirty="0"/>
                        <a:t>정글 동선</a:t>
                      </a:r>
                      <a:r>
                        <a:rPr lang="en-US" altLang="ko-KR" sz="1600" b="1" dirty="0"/>
                        <a:t> </a:t>
                      </a:r>
                      <a:r>
                        <a:rPr lang="ko-KR" altLang="en-US" sz="1600" b="1" dirty="0"/>
                        <a:t>파악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651140"/>
                  </a:ext>
                </a:extLst>
              </a:tr>
              <a:tr h="33949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1" dirty="0"/>
                        <a:t>5~8</a:t>
                      </a:r>
                      <a:endParaRPr lang="ko-KR" alt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1" dirty="0"/>
                        <a:t>첫 귀환 </a:t>
                      </a:r>
                      <a:r>
                        <a:rPr lang="en-US" altLang="ko-KR" sz="1600" b="1" dirty="0"/>
                        <a:t>&amp; </a:t>
                      </a:r>
                      <a:r>
                        <a:rPr lang="ko-KR" altLang="en-US" sz="1600" b="1" dirty="0"/>
                        <a:t>첫 오브젝트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3365589"/>
                  </a:ext>
                </a:extLst>
              </a:tr>
              <a:tr h="33949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1" dirty="0"/>
                        <a:t>8~14</a:t>
                      </a:r>
                      <a:endParaRPr lang="ko-KR" alt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1" dirty="0"/>
                        <a:t>전령 활용을 통한 타워 압박 및 </a:t>
                      </a:r>
                      <a:r>
                        <a:rPr lang="ko-KR" altLang="en-US" sz="1600" b="1" dirty="0" err="1"/>
                        <a:t>스노우볼</a:t>
                      </a:r>
                      <a:endParaRPr lang="ko-KR" altLang="en-US" sz="16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7060565"/>
                  </a:ext>
                </a:extLst>
              </a:tr>
              <a:tr h="33949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1"/>
                        <a:t>14~20</a:t>
                      </a:r>
                      <a:endParaRPr lang="ko-KR" alt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1" dirty="0"/>
                        <a:t>게임 운영의 시작</a:t>
                      </a:r>
                      <a:r>
                        <a:rPr lang="en-US" altLang="ko-KR" sz="1600" b="1" dirty="0"/>
                        <a:t>(</a:t>
                      </a:r>
                      <a:r>
                        <a:rPr lang="ko-KR" altLang="en-US" sz="1600" b="1" dirty="0"/>
                        <a:t>라인 운영 </a:t>
                      </a:r>
                      <a:r>
                        <a:rPr lang="en-US" altLang="ko-KR" sz="1600" b="1" dirty="0"/>
                        <a:t>&amp; </a:t>
                      </a:r>
                      <a:r>
                        <a:rPr lang="ko-KR" altLang="en-US" sz="1600" b="1" dirty="0"/>
                        <a:t>시야 장악</a:t>
                      </a:r>
                      <a:r>
                        <a:rPr lang="en-US" altLang="ko-KR" sz="1600" b="1" dirty="0"/>
                        <a:t>)</a:t>
                      </a:r>
                      <a:endParaRPr lang="ko-KR" altLang="en-US" sz="16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8743395"/>
                  </a:ext>
                </a:extLst>
              </a:tr>
              <a:tr h="33949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1"/>
                        <a:t>20~25</a:t>
                      </a:r>
                      <a:endParaRPr lang="ko-KR" alt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1" dirty="0"/>
                        <a:t>바론 중심의 오브젝트 </a:t>
                      </a:r>
                      <a:r>
                        <a:rPr lang="ko-KR" altLang="en-US" sz="1600" b="1" dirty="0" err="1"/>
                        <a:t>한타</a:t>
                      </a:r>
                      <a:r>
                        <a:rPr lang="ko-KR" altLang="en-US" sz="1600" b="1" dirty="0"/>
                        <a:t> 및 주요 교전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9617108"/>
                  </a:ext>
                </a:extLst>
              </a:tr>
              <a:tr h="33949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1" dirty="0"/>
                        <a:t>25+</a:t>
                      </a:r>
                      <a:endParaRPr lang="ko-KR" alt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1" dirty="0" err="1"/>
                        <a:t>한타</a:t>
                      </a:r>
                      <a:r>
                        <a:rPr lang="ko-KR" altLang="en-US" sz="1600" b="1" dirty="0"/>
                        <a:t> 결과에 따라 게임 승패 결정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05935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312728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F8297B2-E144-6DFB-751A-C455533B22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/>
              <a:t>게임 소개</a:t>
            </a:r>
            <a:r>
              <a:rPr lang="en-US" altLang="ko-KR" sz="3200" b="1" dirty="0"/>
              <a:t>(</a:t>
            </a:r>
            <a:r>
              <a:rPr lang="ko-KR" altLang="en-US" sz="3200" b="1" dirty="0"/>
              <a:t>맵 소개</a:t>
            </a:r>
            <a:r>
              <a:rPr lang="en-US" altLang="ko-KR" sz="3200" b="1" dirty="0"/>
              <a:t>)</a:t>
            </a:r>
            <a:endParaRPr lang="ko-KR" altLang="en-US" b="1" dirty="0"/>
          </a:p>
        </p:txBody>
      </p:sp>
      <p:pic>
        <p:nvPicPr>
          <p:cNvPr id="5" name="Picture 2" descr="2024년 리그 오브 레전드 지도 설명 | Gamelevate.com">
            <a:extLst>
              <a:ext uri="{FF2B5EF4-FFF2-40B4-BE49-F238E27FC236}">
                <a16:creationId xmlns:a16="http://schemas.microsoft.com/office/drawing/2014/main" id="{BB57F9C9-C666-0862-FC6D-61778B9945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7255" y="2239565"/>
            <a:ext cx="5333373" cy="29866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D859C50-4CB6-9092-138E-4A0593DFE09C}"/>
              </a:ext>
            </a:extLst>
          </p:cNvPr>
          <p:cNvSpPr txBox="1"/>
          <p:nvPr/>
        </p:nvSpPr>
        <p:spPr>
          <a:xfrm>
            <a:off x="6096000" y="2407347"/>
            <a:ext cx="4857135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/>
              <a:t>소환사의 협곡 맵 사이즈</a:t>
            </a:r>
            <a:r>
              <a:rPr lang="en-US" altLang="ko-KR" b="1" dirty="0"/>
              <a:t>: </a:t>
            </a:r>
            <a:r>
              <a:rPr lang="ko-KR" altLang="en-US" b="1" dirty="0"/>
              <a:t>약</a:t>
            </a:r>
            <a:r>
              <a:rPr lang="en-US" altLang="ko-KR" b="1" dirty="0"/>
              <a:t>160m x 160m</a:t>
            </a:r>
          </a:p>
          <a:p>
            <a:endParaRPr lang="en-US" altLang="ko-KR" b="1" dirty="0"/>
          </a:p>
          <a:p>
            <a:r>
              <a:rPr lang="ko-KR" altLang="en-US" b="1" dirty="0"/>
              <a:t>측면 타워 사이의 거리</a:t>
            </a:r>
            <a:r>
              <a:rPr lang="en-US" altLang="ko-KR" b="1" dirty="0"/>
              <a:t>: </a:t>
            </a:r>
            <a:r>
              <a:rPr lang="ko-KR" altLang="en-US" b="1" dirty="0"/>
              <a:t>약</a:t>
            </a:r>
            <a:r>
              <a:rPr lang="en-US" altLang="ko-KR" b="1" dirty="0"/>
              <a:t>49m  </a:t>
            </a:r>
            <a:br>
              <a:rPr lang="en-US" altLang="ko-KR" b="1" dirty="0"/>
            </a:br>
            <a:br>
              <a:rPr lang="en-US" altLang="ko-KR" b="1" dirty="0"/>
            </a:br>
            <a:r>
              <a:rPr lang="ko-KR" altLang="en-US" b="1" dirty="0"/>
              <a:t>중앙 타워 사이의 거리 </a:t>
            </a:r>
            <a:r>
              <a:rPr lang="en-US" altLang="ko-KR" b="1" dirty="0"/>
              <a:t>:</a:t>
            </a:r>
            <a:r>
              <a:rPr lang="ko-KR" altLang="en-US" b="1" dirty="0"/>
              <a:t>약</a:t>
            </a:r>
            <a:r>
              <a:rPr lang="en-US" altLang="ko-KR" b="1" dirty="0"/>
              <a:t>32m</a:t>
            </a:r>
          </a:p>
          <a:p>
            <a:endParaRPr lang="en-US" altLang="ko-KR" b="1" dirty="0"/>
          </a:p>
          <a:p>
            <a:r>
              <a:rPr lang="ko-KR" altLang="en-US" b="1" dirty="0"/>
              <a:t>각 팀의 넥서스 까지의 거리</a:t>
            </a:r>
            <a:r>
              <a:rPr lang="en-US" altLang="ko-KR" b="1" dirty="0"/>
              <a:t>: </a:t>
            </a:r>
            <a:r>
              <a:rPr lang="ko-KR" altLang="en-US" b="1" dirty="0"/>
              <a:t>약 </a:t>
            </a:r>
            <a:r>
              <a:rPr lang="en-US" altLang="ko-KR" b="1" dirty="0"/>
              <a:t>225m</a:t>
            </a:r>
          </a:p>
          <a:p>
            <a:endParaRPr lang="en-US" altLang="ko-KR" b="1" dirty="0"/>
          </a:p>
          <a:p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23464970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DC8E1C9-7CED-572B-62F9-B41779F1E2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/>
              <a:t>게임 소개</a:t>
            </a:r>
            <a:r>
              <a:rPr lang="en-US" altLang="ko-KR" sz="3200" b="1" dirty="0"/>
              <a:t>(</a:t>
            </a:r>
            <a:r>
              <a:rPr lang="ko-KR" altLang="en-US" sz="3200" b="1" dirty="0"/>
              <a:t>게임 컨텐츠</a:t>
            </a:r>
            <a:r>
              <a:rPr lang="en-US" altLang="ko-KR" sz="3200" b="1" dirty="0"/>
              <a:t>)</a:t>
            </a:r>
            <a:endParaRPr lang="ko-KR" altLang="en-US" b="1" dirty="0"/>
          </a:p>
        </p:txBody>
      </p:sp>
      <p:pic>
        <p:nvPicPr>
          <p:cNvPr id="4098" name="Picture 2" descr="▷【 LoL skin 】 베인 / 리그 오브 레전드 스킨 / 스킨 동영상">
            <a:extLst>
              <a:ext uri="{FF2B5EF4-FFF2-40B4-BE49-F238E27FC236}">
                <a16:creationId xmlns:a16="http://schemas.microsoft.com/office/drawing/2014/main" id="{CAEAF0F7-AD67-8B5B-1E36-0BDD3F9A0729}"/>
              </a:ext>
            </a:extLst>
          </p:cNvPr>
          <p:cNvPicPr preferRelativeResize="0">
            <a:picLocks noGrp="1" noChangeArrowheads="1"/>
          </p:cNvPicPr>
          <p:nvPr>
            <p:ph idx="1"/>
          </p:nvPr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5877" y="1956397"/>
            <a:ext cx="597600" cy="597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말파이트 빌드 - 승률 기반 추천 룬, 아이템, 스킬 빌드">
            <a:extLst>
              <a:ext uri="{FF2B5EF4-FFF2-40B4-BE49-F238E27FC236}">
                <a16:creationId xmlns:a16="http://schemas.microsoft.com/office/drawing/2014/main" id="{C3023400-3220-B05E-46A9-41D59CA90519}"/>
              </a:ext>
            </a:extLst>
          </p:cNvPr>
          <p:cNvPicPr preferRelativeResize="0"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1889" y="1956397"/>
            <a:ext cx="597600" cy="597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 descr="▷【 LoL skin 】 잭스 / 리그 오브 레전드 스킨 / 스킨 동영상">
            <a:extLst>
              <a:ext uri="{FF2B5EF4-FFF2-40B4-BE49-F238E27FC236}">
                <a16:creationId xmlns:a16="http://schemas.microsoft.com/office/drawing/2014/main" id="{6C4B1A01-5071-1FD3-CFDB-4F4A68496F40}"/>
              </a:ext>
            </a:extLst>
          </p:cNvPr>
          <p:cNvPicPr preferRelativeResize="0">
            <a:picLocks noChangeArrowheads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1889" y="2548351"/>
            <a:ext cx="597600" cy="597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4" name="Picture 8" descr="▷【 LoL skin 】 가렌 / 리그 오브 레전드 스킨 / 스킨 동영상">
            <a:extLst>
              <a:ext uri="{FF2B5EF4-FFF2-40B4-BE49-F238E27FC236}">
                <a16:creationId xmlns:a16="http://schemas.microsoft.com/office/drawing/2014/main" id="{38A3A628-C059-F5E6-2003-00888EDEA7E5}"/>
              </a:ext>
            </a:extLst>
          </p:cNvPr>
          <p:cNvPicPr preferRelativeResize="0">
            <a:picLocks noChangeArrowheads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1889" y="3140305"/>
            <a:ext cx="597600" cy="597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6" name="Picture 10" descr="LOL(롤) 시즌8 리신 룬에 대해 알아보자! : 네이버 블로그">
            <a:extLst>
              <a:ext uri="{FF2B5EF4-FFF2-40B4-BE49-F238E27FC236}">
                <a16:creationId xmlns:a16="http://schemas.microsoft.com/office/drawing/2014/main" id="{E2164B9D-92B9-3521-4BB5-2A25665A3B97}"/>
              </a:ext>
            </a:extLst>
          </p:cNvPr>
          <p:cNvPicPr preferRelativeResize="0">
            <a:picLocks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2645" y="1956397"/>
            <a:ext cx="597600" cy="597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10" name="Picture 14" descr="LoL 상점">
            <a:extLst>
              <a:ext uri="{FF2B5EF4-FFF2-40B4-BE49-F238E27FC236}">
                <a16:creationId xmlns:a16="http://schemas.microsoft.com/office/drawing/2014/main" id="{9E7ABDDF-449E-598F-6F22-6E3F0CD8BB2A}"/>
              </a:ext>
            </a:extLst>
          </p:cNvPr>
          <p:cNvPicPr preferRelativeResize="0">
            <a:picLocks noChangeArrowheads="1"/>
          </p:cNvPicPr>
          <p:nvPr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2645" y="3140305"/>
            <a:ext cx="597600" cy="597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12" name="Picture 16" descr="럭스 스킨">
            <a:extLst>
              <a:ext uri="{FF2B5EF4-FFF2-40B4-BE49-F238E27FC236}">
                <a16:creationId xmlns:a16="http://schemas.microsoft.com/office/drawing/2014/main" id="{1650D723-A35E-522E-7537-AB6389602CE4}"/>
              </a:ext>
            </a:extLst>
          </p:cNvPr>
          <p:cNvPicPr preferRelativeResize="0">
            <a:picLocks noChangeArrowheads="1"/>
          </p:cNvPicPr>
          <p:nvPr/>
        </p:nvPicPr>
        <p:blipFill>
          <a:blip r:embed="rId8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7679" y="1956397"/>
            <a:ext cx="597600" cy="597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14" name="Picture 18" descr="롤 협곡 탈론 룬 템트리 스킬 콤보">
            <a:extLst>
              <a:ext uri="{FF2B5EF4-FFF2-40B4-BE49-F238E27FC236}">
                <a16:creationId xmlns:a16="http://schemas.microsoft.com/office/drawing/2014/main" id="{B3D0E1ED-7062-B109-9E67-A137B95D482D}"/>
              </a:ext>
            </a:extLst>
          </p:cNvPr>
          <p:cNvPicPr preferRelativeResize="0">
            <a:picLocks noChangeArrowheads="1"/>
          </p:cNvPicPr>
          <p:nvPr/>
        </p:nvPicPr>
        <p:blipFill>
          <a:blip r:embed="rId9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7679" y="2548351"/>
            <a:ext cx="597600" cy="597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18" name="Picture 22" descr="▷【 LoL skin 】 케이틀린 / 리그 오브 레전드 스킨 / 스킨 동영상">
            <a:extLst>
              <a:ext uri="{FF2B5EF4-FFF2-40B4-BE49-F238E27FC236}">
                <a16:creationId xmlns:a16="http://schemas.microsoft.com/office/drawing/2014/main" id="{40D05214-8F21-73F3-F764-180843289B1B}"/>
              </a:ext>
            </a:extLst>
          </p:cNvPr>
          <p:cNvPicPr preferRelativeResize="0">
            <a:picLocks noChangeArrowheads="1"/>
          </p:cNvPicPr>
          <p:nvPr/>
        </p:nvPicPr>
        <p:blipFill>
          <a:blip r:embed="rId10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5877" y="2548351"/>
            <a:ext cx="597600" cy="597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22" name="Picture 26" descr="▷【 LoL skin 】 블리츠크랭크 / 리그 오브 레전드 스킨 / 스킨 동영상">
            <a:extLst>
              <a:ext uri="{FF2B5EF4-FFF2-40B4-BE49-F238E27FC236}">
                <a16:creationId xmlns:a16="http://schemas.microsoft.com/office/drawing/2014/main" id="{55DF9169-9265-B273-CF6B-4C72FA4A6196}"/>
              </a:ext>
            </a:extLst>
          </p:cNvPr>
          <p:cNvPicPr preferRelativeResize="0">
            <a:picLocks noChangeArrowheads="1"/>
          </p:cNvPicPr>
          <p:nvPr/>
        </p:nvPicPr>
        <p:blipFill>
          <a:blip r:embed="rId11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4908" y="1956397"/>
            <a:ext cx="597600" cy="597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24" name="Picture 28" descr="▷【 LoL skin 】 알리스타 / 리그 오브 레전드 스킨 / 스킨 동영상">
            <a:extLst>
              <a:ext uri="{FF2B5EF4-FFF2-40B4-BE49-F238E27FC236}">
                <a16:creationId xmlns:a16="http://schemas.microsoft.com/office/drawing/2014/main" id="{B43278BF-0D28-3A7C-8A13-E9996A1B8C90}"/>
              </a:ext>
            </a:extLst>
          </p:cNvPr>
          <p:cNvPicPr preferRelativeResize="0">
            <a:picLocks noChangeArrowheads="1"/>
          </p:cNvPicPr>
          <p:nvPr/>
        </p:nvPicPr>
        <p:blipFill>
          <a:blip r:embed="rId1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4908" y="2548351"/>
            <a:ext cx="597600" cy="597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26" name="Picture 30" descr="소라카 스킨">
            <a:extLst>
              <a:ext uri="{FF2B5EF4-FFF2-40B4-BE49-F238E27FC236}">
                <a16:creationId xmlns:a16="http://schemas.microsoft.com/office/drawing/2014/main" id="{19FB76E1-1CAE-8D38-4582-0F5D84B9736A}"/>
              </a:ext>
            </a:extLst>
          </p:cNvPr>
          <p:cNvPicPr preferRelativeResize="0">
            <a:picLocks noChangeArrowheads="1"/>
          </p:cNvPicPr>
          <p:nvPr/>
        </p:nvPicPr>
        <p:blipFill>
          <a:blip r:embed="rId1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4908" y="3140305"/>
            <a:ext cx="597600" cy="597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28" name="Picture 32" descr="WATERMELONWARIOR#WMLN - 게임 전적 - League of Legends">
            <a:extLst>
              <a:ext uri="{FF2B5EF4-FFF2-40B4-BE49-F238E27FC236}">
                <a16:creationId xmlns:a16="http://schemas.microsoft.com/office/drawing/2014/main" id="{31CF99B2-C1A4-4095-68C3-7260B8FE5739}"/>
              </a:ext>
            </a:extLst>
          </p:cNvPr>
          <p:cNvPicPr preferRelativeResize="0">
            <a:picLocks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2645" y="2548351"/>
            <a:ext cx="597600" cy="597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리그 오브 레전드/드래곤 - 나무위키">
            <a:extLst>
              <a:ext uri="{FF2B5EF4-FFF2-40B4-BE49-F238E27FC236}">
                <a16:creationId xmlns:a16="http://schemas.microsoft.com/office/drawing/2014/main" id="{DC2F327F-06E1-AB6F-9F91-D576755C28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0694" y="3871800"/>
            <a:ext cx="1245785" cy="11743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리그 오브 레전드/구조물 - 나무위키">
            <a:extLst>
              <a:ext uri="{FF2B5EF4-FFF2-40B4-BE49-F238E27FC236}">
                <a16:creationId xmlns:a16="http://schemas.microsoft.com/office/drawing/2014/main" id="{89193FB9-025F-2CC1-3B47-4BF4565372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6479" y="3959146"/>
            <a:ext cx="1151345" cy="10870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 descr="롤]상점을 손쉽고 편하게 사용하는방법.tip">
            <a:extLst>
              <a:ext uri="{FF2B5EF4-FFF2-40B4-BE49-F238E27FC236}">
                <a16:creationId xmlns:a16="http://schemas.microsoft.com/office/drawing/2014/main" id="{184BF087-D4D0-78C0-6DC9-883F5394E4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306" y="5007888"/>
            <a:ext cx="2397130" cy="17955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LoL 상점">
            <a:extLst>
              <a:ext uri="{FF2B5EF4-FFF2-40B4-BE49-F238E27FC236}">
                <a16:creationId xmlns:a16="http://schemas.microsoft.com/office/drawing/2014/main" id="{A43DEE10-924F-FB64-2AEA-84AAB22C0BDA}"/>
              </a:ext>
            </a:extLst>
          </p:cNvPr>
          <p:cNvPicPr preferRelativeResize="0">
            <a:picLocks noChangeArrowheads="1"/>
          </p:cNvPicPr>
          <p:nvPr/>
        </p:nvPicPr>
        <p:blipFill>
          <a:blip r:embed="rId18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7679" y="3140305"/>
            <a:ext cx="597600" cy="597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>
            <a:extLst>
              <a:ext uri="{FF2B5EF4-FFF2-40B4-BE49-F238E27FC236}">
                <a16:creationId xmlns:a16="http://schemas.microsoft.com/office/drawing/2014/main" id="{BB580E11-39EE-F41E-150C-4312EEB5EAD8}"/>
              </a:ext>
            </a:extLst>
          </p:cNvPr>
          <p:cNvPicPr preferRelativeResize="0">
            <a:picLocks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5877" y="3140305"/>
            <a:ext cx="597600" cy="597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E85900D-6690-92D0-6734-F6593823AD48}"/>
              </a:ext>
            </a:extLst>
          </p:cNvPr>
          <p:cNvSpPr txBox="1"/>
          <p:nvPr/>
        </p:nvSpPr>
        <p:spPr>
          <a:xfrm>
            <a:off x="3291723" y="1577234"/>
            <a:ext cx="8678388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/>
              <a:t>리그 오브 레전드의 전체 중 일부 시스템만 구현하는 것을 </a:t>
            </a:r>
            <a:br>
              <a:rPr lang="en-US" altLang="ko-KR" sz="2400" b="1" dirty="0"/>
            </a:br>
            <a:r>
              <a:rPr lang="ko-KR" altLang="en-US" sz="2400" b="1" dirty="0"/>
              <a:t>목표로 한다</a:t>
            </a:r>
            <a:r>
              <a:rPr lang="en-US" altLang="ko-KR" sz="2400" b="1" dirty="0"/>
              <a:t>.</a:t>
            </a:r>
          </a:p>
          <a:p>
            <a:endParaRPr lang="en-US" altLang="ko-KR" sz="2400" b="1" dirty="0"/>
          </a:p>
          <a:p>
            <a:r>
              <a:rPr lang="en-US" altLang="ko-KR" sz="2400" b="1" dirty="0"/>
              <a:t>1. </a:t>
            </a:r>
            <a:r>
              <a:rPr lang="ko-KR" altLang="en-US" sz="2400" b="1" dirty="0"/>
              <a:t>플레이어는 </a:t>
            </a:r>
            <a:r>
              <a:rPr lang="en-US" altLang="ko-KR" sz="2400" b="1" dirty="0"/>
              <a:t>80</a:t>
            </a:r>
            <a:r>
              <a:rPr lang="ko-KR" altLang="en-US" sz="2400" b="1" dirty="0"/>
              <a:t>종</a:t>
            </a:r>
            <a:r>
              <a:rPr lang="en-US" altLang="ko-KR" sz="2400" b="1" dirty="0"/>
              <a:t>(50%)</a:t>
            </a:r>
            <a:r>
              <a:rPr lang="ko-KR" altLang="en-US" sz="2400" b="1" dirty="0"/>
              <a:t>의 캐릭터들 중 하나를 사용 할 수 있다</a:t>
            </a:r>
            <a:r>
              <a:rPr lang="en-US" altLang="ko-KR" sz="2400" b="1" dirty="0"/>
              <a:t>.</a:t>
            </a:r>
          </a:p>
          <a:p>
            <a:r>
              <a:rPr lang="ko-KR" altLang="en-US" b="1" dirty="0"/>
              <a:t>플레이어가 플레이할 수 있는 캐릭터는 </a:t>
            </a:r>
            <a:r>
              <a:rPr lang="en-US" altLang="ko-KR" b="1" dirty="0"/>
              <a:t>‘</a:t>
            </a:r>
            <a:r>
              <a:rPr lang="ko-KR" altLang="en-US" b="1" dirty="0"/>
              <a:t>챔피언</a:t>
            </a:r>
            <a:r>
              <a:rPr lang="en-US" altLang="ko-KR" b="1" dirty="0"/>
              <a:t>’</a:t>
            </a:r>
            <a:r>
              <a:rPr lang="ko-KR" altLang="en-US" b="1" dirty="0"/>
              <a:t>이라고 부른다</a:t>
            </a:r>
            <a:r>
              <a:rPr lang="en-US" altLang="ko-KR" b="1" dirty="0"/>
              <a:t>.</a:t>
            </a:r>
          </a:p>
          <a:p>
            <a:r>
              <a:rPr lang="ko-KR" altLang="en-US" b="1" dirty="0"/>
              <a:t>각 챔피언은 기본적으로 패시브와 </a:t>
            </a:r>
            <a:r>
              <a:rPr lang="en-US" altLang="ko-KR" b="1" dirty="0"/>
              <a:t>4</a:t>
            </a:r>
            <a:r>
              <a:rPr lang="ko-KR" altLang="en-US" b="1" dirty="0"/>
              <a:t>개의 스킬이 있다</a:t>
            </a:r>
            <a:r>
              <a:rPr lang="en-US" altLang="ko-KR" b="1" dirty="0"/>
              <a:t>.</a:t>
            </a:r>
          </a:p>
          <a:p>
            <a:r>
              <a:rPr lang="ko-KR" altLang="en-US" b="1" dirty="0"/>
              <a:t>챔피언의 </a:t>
            </a:r>
            <a:r>
              <a:rPr lang="ko-KR" altLang="en-US" b="1" dirty="0" err="1"/>
              <a:t>스탯은</a:t>
            </a:r>
            <a:r>
              <a:rPr lang="ko-KR" altLang="en-US" b="1" dirty="0"/>
              <a:t> </a:t>
            </a:r>
            <a:r>
              <a:rPr lang="en-US" altLang="ko-KR" b="1" dirty="0"/>
              <a:t>HP, MP </a:t>
            </a:r>
            <a:r>
              <a:rPr lang="ko-KR" altLang="en-US" b="1" dirty="0"/>
              <a:t>등이 있다</a:t>
            </a:r>
            <a:r>
              <a:rPr lang="en-US" altLang="ko-KR" b="1" dirty="0"/>
              <a:t>.</a:t>
            </a:r>
          </a:p>
          <a:p>
            <a:endParaRPr lang="en-US" altLang="ko-KR" b="1" dirty="0"/>
          </a:p>
          <a:p>
            <a:r>
              <a:rPr lang="en-US" altLang="ko-KR" sz="2400" b="1" dirty="0"/>
              <a:t>2. </a:t>
            </a:r>
            <a:r>
              <a:rPr lang="ko-KR" altLang="en-US" sz="2400" b="1" dirty="0"/>
              <a:t>드래곤</a:t>
            </a:r>
            <a:r>
              <a:rPr lang="en-US" altLang="ko-KR" sz="2400" b="1" dirty="0"/>
              <a:t>/</a:t>
            </a:r>
            <a:r>
              <a:rPr lang="ko-KR" altLang="en-US" sz="2400" b="1" dirty="0"/>
              <a:t>전령</a:t>
            </a:r>
            <a:r>
              <a:rPr lang="en-US" altLang="ko-KR" sz="2400" b="1" dirty="0"/>
              <a:t>/</a:t>
            </a:r>
            <a:r>
              <a:rPr lang="ko-KR" altLang="en-US" sz="2400" b="1" dirty="0" err="1"/>
              <a:t>바론과</a:t>
            </a:r>
            <a:r>
              <a:rPr lang="ko-KR" altLang="en-US" sz="2400" b="1" dirty="0"/>
              <a:t> 같은 오브젝트와 대부분의 시스템은 </a:t>
            </a:r>
            <a:br>
              <a:rPr lang="en-US" altLang="ko-KR" sz="2400" b="1" dirty="0"/>
            </a:br>
            <a:r>
              <a:rPr lang="ko-KR" altLang="en-US" sz="2400" b="1" dirty="0"/>
              <a:t>시즌 </a:t>
            </a:r>
            <a:r>
              <a:rPr lang="en-US" altLang="ko-KR" sz="2400" b="1" dirty="0"/>
              <a:t>5~6</a:t>
            </a:r>
            <a:r>
              <a:rPr lang="ko-KR" altLang="en-US" sz="2400" b="1" dirty="0"/>
              <a:t>의 시스템을 그대로 가져온다</a:t>
            </a:r>
            <a:r>
              <a:rPr lang="en-US" altLang="ko-KR" sz="2400" b="1" dirty="0"/>
              <a:t>. </a:t>
            </a:r>
          </a:p>
          <a:p>
            <a:r>
              <a:rPr lang="en-US" altLang="ko-KR" sz="2400" b="1" dirty="0"/>
              <a:t>(</a:t>
            </a:r>
            <a:r>
              <a:rPr lang="ko-KR" altLang="en-US" sz="2400" b="1" dirty="0"/>
              <a:t>원소 드래곤</a:t>
            </a:r>
            <a:r>
              <a:rPr lang="en-US" altLang="ko-KR" sz="2400" b="1" dirty="0"/>
              <a:t>X, </a:t>
            </a:r>
            <a:r>
              <a:rPr lang="ko-KR" altLang="en-US" sz="2400" b="1" dirty="0"/>
              <a:t>현재의 전령</a:t>
            </a:r>
            <a:r>
              <a:rPr lang="en-US" altLang="ko-KR" sz="2400" b="1" dirty="0"/>
              <a:t>/</a:t>
            </a:r>
            <a:r>
              <a:rPr lang="ko-KR" altLang="en-US" sz="2400" b="1" dirty="0"/>
              <a:t>바론 시스템</a:t>
            </a:r>
            <a:r>
              <a:rPr lang="en-US" altLang="ko-KR" sz="2400" b="1" dirty="0"/>
              <a:t>X)</a:t>
            </a:r>
          </a:p>
          <a:p>
            <a:endParaRPr lang="en-US" altLang="ko-KR" b="1" dirty="0"/>
          </a:p>
          <a:p>
            <a:r>
              <a:rPr lang="en-US" altLang="ko-KR" sz="2400" b="1" dirty="0"/>
              <a:t>3. </a:t>
            </a:r>
            <a:r>
              <a:rPr lang="ko-KR" altLang="en-US" sz="2400" b="1" dirty="0"/>
              <a:t>룬 시스템은 제작하지 않는다</a:t>
            </a:r>
            <a:r>
              <a:rPr lang="en-US" altLang="ko-KR" sz="2400" b="1" dirty="0"/>
              <a:t>.</a:t>
            </a:r>
          </a:p>
          <a:p>
            <a:r>
              <a:rPr lang="ko-KR" altLang="en-US" b="1" dirty="0"/>
              <a:t>그 외에 구현하는 것들은 중립 몬스터</a:t>
            </a:r>
            <a:r>
              <a:rPr lang="en-US" altLang="ko-KR" b="1" dirty="0"/>
              <a:t>(</a:t>
            </a:r>
            <a:r>
              <a:rPr lang="ko-KR" altLang="en-US" b="1" dirty="0"/>
              <a:t>특정 위치에 </a:t>
            </a:r>
            <a:r>
              <a:rPr lang="ko-KR" altLang="en-US" b="1" dirty="0" err="1"/>
              <a:t>스폰되는</a:t>
            </a:r>
            <a:r>
              <a:rPr lang="ko-KR" altLang="en-US" b="1" dirty="0"/>
              <a:t> </a:t>
            </a:r>
            <a:r>
              <a:rPr lang="en-US" altLang="ko-KR" b="1" dirty="0"/>
              <a:t>NPC), </a:t>
            </a:r>
            <a:r>
              <a:rPr lang="ko-KR" altLang="en-US" b="1" dirty="0" err="1"/>
              <a:t>미니언</a:t>
            </a:r>
            <a:r>
              <a:rPr lang="en-US" altLang="ko-KR" b="1" dirty="0"/>
              <a:t>(</a:t>
            </a:r>
            <a:r>
              <a:rPr lang="ko-KR" altLang="en-US" b="1" dirty="0"/>
              <a:t>공격로에 위치하여 상대를 공격하는 </a:t>
            </a:r>
            <a:r>
              <a:rPr lang="en-US" altLang="ko-KR" b="1" dirty="0"/>
              <a:t>NPC), </a:t>
            </a:r>
            <a:r>
              <a:rPr lang="ko-KR" altLang="en-US" b="1" dirty="0"/>
              <a:t>구조물</a:t>
            </a:r>
            <a:r>
              <a:rPr lang="en-US" altLang="ko-KR" b="1" dirty="0"/>
              <a:t>(</a:t>
            </a:r>
            <a:r>
              <a:rPr lang="ko-KR" altLang="en-US" b="1" dirty="0"/>
              <a:t>기지를 방어하는 </a:t>
            </a:r>
            <a:r>
              <a:rPr lang="en-US" altLang="ko-KR" b="1" dirty="0"/>
              <a:t>NPC), </a:t>
            </a:r>
            <a:r>
              <a:rPr lang="ko-KR" altLang="en-US" b="1" dirty="0"/>
              <a:t>스펠</a:t>
            </a:r>
            <a:r>
              <a:rPr lang="en-US" altLang="ko-KR" b="1" dirty="0"/>
              <a:t>(</a:t>
            </a:r>
            <a:r>
              <a:rPr lang="ko-KR" altLang="en-US" b="1" dirty="0"/>
              <a:t>추가 공통 스킬</a:t>
            </a:r>
            <a:r>
              <a:rPr lang="en-US" altLang="ko-KR" b="1" dirty="0"/>
              <a:t>)/</a:t>
            </a:r>
            <a:r>
              <a:rPr lang="ko-KR" altLang="en-US" b="1" dirty="0"/>
              <a:t>상점</a:t>
            </a:r>
            <a:r>
              <a:rPr lang="en-US" altLang="ko-KR" b="1" dirty="0"/>
              <a:t>(</a:t>
            </a:r>
            <a:r>
              <a:rPr lang="ko-KR" altLang="en-US" b="1" dirty="0"/>
              <a:t>아이템</a:t>
            </a:r>
            <a:r>
              <a:rPr lang="en-US" altLang="ko-KR" b="1" dirty="0"/>
              <a:t>)(</a:t>
            </a:r>
            <a:r>
              <a:rPr lang="ko-KR" altLang="en-US" b="1" dirty="0"/>
              <a:t>플레이어의 강화 요소</a:t>
            </a:r>
            <a:r>
              <a:rPr lang="en-US" altLang="ko-KR" b="1" dirty="0"/>
              <a:t>), </a:t>
            </a:r>
            <a:r>
              <a:rPr lang="ko-KR" altLang="en-US" b="1" dirty="0"/>
              <a:t>게임 </a:t>
            </a:r>
            <a:r>
              <a:rPr lang="en-US" altLang="ko-KR" b="1" dirty="0"/>
              <a:t>UI</a:t>
            </a:r>
            <a:r>
              <a:rPr lang="ko-KR" altLang="en-US" b="1" dirty="0"/>
              <a:t> 등이 있다</a:t>
            </a:r>
            <a:r>
              <a:rPr lang="en-US" altLang="ko-KR" b="1" dirty="0"/>
              <a:t>.</a:t>
            </a:r>
          </a:p>
          <a:p>
            <a:endParaRPr lang="en-US" altLang="ko-KR" b="1" dirty="0"/>
          </a:p>
        </p:txBody>
      </p:sp>
    </p:spTree>
    <p:extLst>
      <p:ext uri="{BB962C8B-B14F-4D97-AF65-F5344CB8AC3E}">
        <p14:creationId xmlns:p14="http://schemas.microsoft.com/office/powerpoint/2010/main" val="19950580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3C1726E-37DF-46C7-F884-7AFF06E5F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/>
              <a:t>게임 소개</a:t>
            </a:r>
            <a:r>
              <a:rPr lang="en-US" altLang="ko-KR" sz="3200" b="1" dirty="0"/>
              <a:t>(</a:t>
            </a:r>
            <a:r>
              <a:rPr lang="ko-KR" altLang="en-US" sz="3200" b="1" dirty="0"/>
              <a:t>조작법</a:t>
            </a:r>
            <a:r>
              <a:rPr lang="en-US" altLang="ko-KR" sz="3200" b="1" dirty="0"/>
              <a:t>)</a:t>
            </a:r>
            <a:endParaRPr lang="ko-KR" altLang="en-US" b="1" dirty="0"/>
          </a:p>
        </p:txBody>
      </p:sp>
      <p:pic>
        <p:nvPicPr>
          <p:cNvPr id="1034" name="Picture 10" descr="키보드/레이아웃 - 나무위키">
            <a:extLst>
              <a:ext uri="{FF2B5EF4-FFF2-40B4-BE49-F238E27FC236}">
                <a16:creationId xmlns:a16="http://schemas.microsoft.com/office/drawing/2014/main" id="{DE9CFB54-743B-3FF2-CCA0-C1E737626DF5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10394" y="1956162"/>
            <a:ext cx="7574595" cy="29456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128C1B5E-85A1-59E6-2634-E1AA797D3D2D}"/>
              </a:ext>
            </a:extLst>
          </p:cNvPr>
          <p:cNvCxnSpPr>
            <a:cxnSpLocks/>
            <a:endCxn id="20" idx="3"/>
          </p:cNvCxnSpPr>
          <p:nvPr/>
        </p:nvCxnSpPr>
        <p:spPr>
          <a:xfrm flipH="1">
            <a:off x="2522856" y="3410874"/>
            <a:ext cx="2686453" cy="436462"/>
          </a:xfrm>
          <a:prstGeom prst="line">
            <a:avLst/>
          </a:prstGeom>
          <a:ln w="3492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82D6C89A-7463-55F7-DD01-5DD8E9468AC7}"/>
              </a:ext>
            </a:extLst>
          </p:cNvPr>
          <p:cNvSpPr/>
          <p:nvPr/>
        </p:nvSpPr>
        <p:spPr>
          <a:xfrm>
            <a:off x="1111871" y="3548629"/>
            <a:ext cx="1410985" cy="59741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스킬 </a:t>
            </a:r>
            <a:r>
              <a:rPr lang="en-US" altLang="ko-KR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1~4</a:t>
            </a:r>
            <a:endParaRPr lang="ko-KR" altLang="en-US" dirty="0">
              <a:solidFill>
                <a:schemeClr val="tx1"/>
              </a:solidFill>
            </a:endParaRPr>
          </a:p>
        </p:txBody>
      </p: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3924FFBA-935D-E110-CC6D-55AF53732282}"/>
              </a:ext>
            </a:extLst>
          </p:cNvPr>
          <p:cNvCxnSpPr>
            <a:cxnSpLocks/>
            <a:endCxn id="24" idx="0"/>
          </p:cNvCxnSpPr>
          <p:nvPr/>
        </p:nvCxnSpPr>
        <p:spPr>
          <a:xfrm flipH="1">
            <a:off x="3455574" y="3703591"/>
            <a:ext cx="1110916" cy="1537091"/>
          </a:xfrm>
          <a:prstGeom prst="line">
            <a:avLst/>
          </a:prstGeom>
          <a:ln w="3492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F85A501D-4CC3-C136-38A6-3E89688EBB67}"/>
              </a:ext>
            </a:extLst>
          </p:cNvPr>
          <p:cNvSpPr/>
          <p:nvPr/>
        </p:nvSpPr>
        <p:spPr>
          <a:xfrm>
            <a:off x="2848567" y="5240682"/>
            <a:ext cx="1214014" cy="540099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공격 명령</a:t>
            </a:r>
          </a:p>
        </p:txBody>
      </p:sp>
      <p:cxnSp>
        <p:nvCxnSpPr>
          <p:cNvPr id="26" name="직선 연결선 25">
            <a:extLst>
              <a:ext uri="{FF2B5EF4-FFF2-40B4-BE49-F238E27FC236}">
                <a16:creationId xmlns:a16="http://schemas.microsoft.com/office/drawing/2014/main" id="{B13C4BC9-4422-5E0D-6C7F-BDD47AFBD318}"/>
              </a:ext>
            </a:extLst>
          </p:cNvPr>
          <p:cNvCxnSpPr>
            <a:cxnSpLocks/>
            <a:endCxn id="27" idx="0"/>
          </p:cNvCxnSpPr>
          <p:nvPr/>
        </p:nvCxnSpPr>
        <p:spPr>
          <a:xfrm flipH="1">
            <a:off x="4750550" y="3703591"/>
            <a:ext cx="322896" cy="1537091"/>
          </a:xfrm>
          <a:prstGeom prst="line">
            <a:avLst/>
          </a:prstGeom>
          <a:ln w="3492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446379BD-2CD0-937D-3C44-CA1F69B33D09}"/>
              </a:ext>
            </a:extLst>
          </p:cNvPr>
          <p:cNvSpPr/>
          <p:nvPr/>
        </p:nvSpPr>
        <p:spPr>
          <a:xfrm>
            <a:off x="4146005" y="5240682"/>
            <a:ext cx="1209089" cy="540099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행동 중지</a:t>
            </a:r>
          </a:p>
        </p:txBody>
      </p:sp>
      <p:cxnSp>
        <p:nvCxnSpPr>
          <p:cNvPr id="29" name="직선 연결선 28">
            <a:extLst>
              <a:ext uri="{FF2B5EF4-FFF2-40B4-BE49-F238E27FC236}">
                <a16:creationId xmlns:a16="http://schemas.microsoft.com/office/drawing/2014/main" id="{95431FBE-CF07-1589-CA8E-D69564AB72FD}"/>
              </a:ext>
            </a:extLst>
          </p:cNvPr>
          <p:cNvCxnSpPr>
            <a:cxnSpLocks/>
            <a:endCxn id="30" idx="0"/>
          </p:cNvCxnSpPr>
          <p:nvPr/>
        </p:nvCxnSpPr>
        <p:spPr>
          <a:xfrm>
            <a:off x="5771536" y="4155875"/>
            <a:ext cx="226852" cy="1084807"/>
          </a:xfrm>
          <a:prstGeom prst="line">
            <a:avLst/>
          </a:prstGeom>
          <a:ln w="3492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9C6355C9-F3A3-4F87-9BD8-08882CE7AAC6}"/>
              </a:ext>
            </a:extLst>
          </p:cNvPr>
          <p:cNvSpPr/>
          <p:nvPr/>
        </p:nvSpPr>
        <p:spPr>
          <a:xfrm>
            <a:off x="5437949" y="5240682"/>
            <a:ext cx="1120877" cy="540099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챔피언</a:t>
            </a:r>
            <a:r>
              <a:rPr lang="en-US" altLang="ko-KR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,</a:t>
            </a:r>
            <a:r>
              <a:rPr lang="ko-KR" alt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룬 정보</a:t>
            </a:r>
          </a:p>
        </p:txBody>
      </p:sp>
      <p:cxnSp>
        <p:nvCxnSpPr>
          <p:cNvPr id="34" name="직선 연결선 33">
            <a:extLst>
              <a:ext uri="{FF2B5EF4-FFF2-40B4-BE49-F238E27FC236}">
                <a16:creationId xmlns:a16="http://schemas.microsoft.com/office/drawing/2014/main" id="{9A400115-9661-172A-0C0B-D6B9BE9E6CD1}"/>
              </a:ext>
            </a:extLst>
          </p:cNvPr>
          <p:cNvCxnSpPr>
            <a:cxnSpLocks/>
            <a:endCxn id="37" idx="0"/>
          </p:cNvCxnSpPr>
          <p:nvPr/>
        </p:nvCxnSpPr>
        <p:spPr>
          <a:xfrm>
            <a:off x="5771536" y="3847336"/>
            <a:ext cx="1774897" cy="1362945"/>
          </a:xfrm>
          <a:prstGeom prst="line">
            <a:avLst/>
          </a:prstGeom>
          <a:ln w="349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B7D46831-279F-4D0A-01E3-327F46BA870A}"/>
              </a:ext>
            </a:extLst>
          </p:cNvPr>
          <p:cNvSpPr/>
          <p:nvPr/>
        </p:nvSpPr>
        <p:spPr>
          <a:xfrm>
            <a:off x="6985994" y="5210281"/>
            <a:ext cx="1120877" cy="540099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스펠 </a:t>
            </a:r>
            <a:r>
              <a:rPr lang="en-US" altLang="ko-KR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1, 2</a:t>
            </a:r>
            <a:endParaRPr lang="ko-KR" alt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50" name="직선 연결선 49">
            <a:extLst>
              <a:ext uri="{FF2B5EF4-FFF2-40B4-BE49-F238E27FC236}">
                <a16:creationId xmlns:a16="http://schemas.microsoft.com/office/drawing/2014/main" id="{7461E5A1-3964-27F2-49BB-CBC010FD6BEA}"/>
              </a:ext>
            </a:extLst>
          </p:cNvPr>
          <p:cNvCxnSpPr>
            <a:cxnSpLocks/>
            <a:endCxn id="53" idx="3"/>
          </p:cNvCxnSpPr>
          <p:nvPr/>
        </p:nvCxnSpPr>
        <p:spPr>
          <a:xfrm flipH="1" flipV="1">
            <a:off x="2640955" y="1974425"/>
            <a:ext cx="2578186" cy="543980"/>
          </a:xfrm>
          <a:prstGeom prst="line">
            <a:avLst/>
          </a:prstGeom>
          <a:ln w="3492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1C728C47-F4D1-206B-69AD-B7E1181ED4F8}"/>
              </a:ext>
            </a:extLst>
          </p:cNvPr>
          <p:cNvSpPr/>
          <p:nvPr/>
        </p:nvSpPr>
        <p:spPr>
          <a:xfrm>
            <a:off x="1107011" y="1704375"/>
            <a:ext cx="1533944" cy="540099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아이템 사용</a:t>
            </a:r>
          </a:p>
        </p:txBody>
      </p:sp>
      <p:cxnSp>
        <p:nvCxnSpPr>
          <p:cNvPr id="62" name="직선 연결선 61">
            <a:extLst>
              <a:ext uri="{FF2B5EF4-FFF2-40B4-BE49-F238E27FC236}">
                <a16:creationId xmlns:a16="http://schemas.microsoft.com/office/drawing/2014/main" id="{3C9612B5-5387-7A65-4D63-79889B48DD04}"/>
              </a:ext>
            </a:extLst>
          </p:cNvPr>
          <p:cNvCxnSpPr/>
          <p:nvPr/>
        </p:nvCxnSpPr>
        <p:spPr>
          <a:xfrm>
            <a:off x="8681884" y="3172933"/>
            <a:ext cx="1602658" cy="2037348"/>
          </a:xfrm>
          <a:prstGeom prst="line">
            <a:avLst/>
          </a:prstGeom>
          <a:ln w="3492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DDA0C250-D3E4-97E6-E62D-F6098F0988C5}"/>
              </a:ext>
            </a:extLst>
          </p:cNvPr>
          <p:cNvSpPr/>
          <p:nvPr/>
        </p:nvSpPr>
        <p:spPr>
          <a:xfrm>
            <a:off x="9849767" y="5233236"/>
            <a:ext cx="1120877" cy="540099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상점</a:t>
            </a:r>
          </a:p>
        </p:txBody>
      </p:sp>
      <p:cxnSp>
        <p:nvCxnSpPr>
          <p:cNvPr id="1025" name="직선 연결선 1024">
            <a:extLst>
              <a:ext uri="{FF2B5EF4-FFF2-40B4-BE49-F238E27FC236}">
                <a16:creationId xmlns:a16="http://schemas.microsoft.com/office/drawing/2014/main" id="{88C82C1D-B681-B3DD-0992-880A62247A3A}"/>
              </a:ext>
            </a:extLst>
          </p:cNvPr>
          <p:cNvCxnSpPr/>
          <p:nvPr/>
        </p:nvCxnSpPr>
        <p:spPr>
          <a:xfrm>
            <a:off x="2733368" y="2812026"/>
            <a:ext cx="1150374" cy="378608"/>
          </a:xfrm>
          <a:prstGeom prst="line">
            <a:avLst/>
          </a:prstGeom>
          <a:ln w="3492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26" name="직사각형 1025">
            <a:extLst>
              <a:ext uri="{FF2B5EF4-FFF2-40B4-BE49-F238E27FC236}">
                <a16:creationId xmlns:a16="http://schemas.microsoft.com/office/drawing/2014/main" id="{8AC5B052-9C36-0FBF-6BCD-0759C77BCF54}"/>
              </a:ext>
            </a:extLst>
          </p:cNvPr>
          <p:cNvSpPr/>
          <p:nvPr/>
        </p:nvSpPr>
        <p:spPr>
          <a:xfrm>
            <a:off x="1107011" y="2458065"/>
            <a:ext cx="1626358" cy="81984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아군</a:t>
            </a:r>
            <a:r>
              <a:rPr lang="en-US" altLang="ko-KR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, </a:t>
            </a:r>
            <a:r>
              <a:rPr lang="ko-KR" alt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적 아이템 현황</a:t>
            </a:r>
          </a:p>
        </p:txBody>
      </p:sp>
      <p:cxnSp>
        <p:nvCxnSpPr>
          <p:cNvPr id="1030" name="직선 연결선 1029">
            <a:extLst>
              <a:ext uri="{FF2B5EF4-FFF2-40B4-BE49-F238E27FC236}">
                <a16:creationId xmlns:a16="http://schemas.microsoft.com/office/drawing/2014/main" id="{3F41EC94-E061-CD03-93D6-53B475CBD617}"/>
              </a:ext>
            </a:extLst>
          </p:cNvPr>
          <p:cNvCxnSpPr/>
          <p:nvPr/>
        </p:nvCxnSpPr>
        <p:spPr>
          <a:xfrm>
            <a:off x="6631719" y="4568830"/>
            <a:ext cx="142707" cy="1478009"/>
          </a:xfrm>
          <a:prstGeom prst="line">
            <a:avLst/>
          </a:prstGeom>
          <a:ln w="3492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31" name="직사각형 1030">
            <a:extLst>
              <a:ext uri="{FF2B5EF4-FFF2-40B4-BE49-F238E27FC236}">
                <a16:creationId xmlns:a16="http://schemas.microsoft.com/office/drawing/2014/main" id="{8E52940B-B53A-0797-0299-CAA57BBB8670}"/>
              </a:ext>
            </a:extLst>
          </p:cNvPr>
          <p:cNvSpPr/>
          <p:nvPr/>
        </p:nvSpPr>
        <p:spPr>
          <a:xfrm>
            <a:off x="6233652" y="6046839"/>
            <a:ext cx="1209089" cy="639096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본인 시점 고정</a:t>
            </a: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D1748503-8AC0-D0D2-EFBC-F64B0596F7BF}"/>
              </a:ext>
            </a:extLst>
          </p:cNvPr>
          <p:cNvCxnSpPr>
            <a:cxnSpLocks/>
          </p:cNvCxnSpPr>
          <p:nvPr/>
        </p:nvCxnSpPr>
        <p:spPr>
          <a:xfrm>
            <a:off x="4314574" y="3410874"/>
            <a:ext cx="1809135" cy="0"/>
          </a:xfrm>
          <a:prstGeom prst="line">
            <a:avLst/>
          </a:prstGeom>
          <a:ln w="34925"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1E9CED1A-058D-40F1-3F76-E04E4D8A53D5}"/>
              </a:ext>
            </a:extLst>
          </p:cNvPr>
          <p:cNvCxnSpPr/>
          <p:nvPr/>
        </p:nvCxnSpPr>
        <p:spPr>
          <a:xfrm flipV="1">
            <a:off x="6123709" y="2983692"/>
            <a:ext cx="0" cy="427182"/>
          </a:xfrm>
          <a:prstGeom prst="line">
            <a:avLst/>
          </a:prstGeom>
          <a:ln w="34925"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96797773-3A92-B34B-263E-4B76E018C00A}"/>
              </a:ext>
            </a:extLst>
          </p:cNvPr>
          <p:cNvCxnSpPr>
            <a:cxnSpLocks/>
          </p:cNvCxnSpPr>
          <p:nvPr/>
        </p:nvCxnSpPr>
        <p:spPr>
          <a:xfrm flipV="1">
            <a:off x="4314574" y="2983692"/>
            <a:ext cx="0" cy="427182"/>
          </a:xfrm>
          <a:prstGeom prst="line">
            <a:avLst/>
          </a:prstGeom>
          <a:ln w="34925"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C96FAFEE-9E79-17B9-F861-8D590FDCE225}"/>
              </a:ext>
            </a:extLst>
          </p:cNvPr>
          <p:cNvCxnSpPr>
            <a:cxnSpLocks/>
          </p:cNvCxnSpPr>
          <p:nvPr/>
        </p:nvCxnSpPr>
        <p:spPr>
          <a:xfrm>
            <a:off x="4314574" y="2983692"/>
            <a:ext cx="1809135" cy="0"/>
          </a:xfrm>
          <a:prstGeom prst="line">
            <a:avLst/>
          </a:prstGeom>
          <a:ln w="34925"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5" name="직선 연결선 34">
            <a:extLst>
              <a:ext uri="{FF2B5EF4-FFF2-40B4-BE49-F238E27FC236}">
                <a16:creationId xmlns:a16="http://schemas.microsoft.com/office/drawing/2014/main" id="{60A7EF54-7A59-0962-5AE2-86B54BB939B9}"/>
              </a:ext>
            </a:extLst>
          </p:cNvPr>
          <p:cNvCxnSpPr/>
          <p:nvPr/>
        </p:nvCxnSpPr>
        <p:spPr>
          <a:xfrm>
            <a:off x="5355094" y="3847336"/>
            <a:ext cx="878558" cy="0"/>
          </a:xfrm>
          <a:prstGeom prst="line">
            <a:avLst/>
          </a:prstGeom>
          <a:ln w="3492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8" name="직선 연결선 37">
            <a:extLst>
              <a:ext uri="{FF2B5EF4-FFF2-40B4-BE49-F238E27FC236}">
                <a16:creationId xmlns:a16="http://schemas.microsoft.com/office/drawing/2014/main" id="{2085F031-37F9-7657-311C-2D59832E8CED}"/>
              </a:ext>
            </a:extLst>
          </p:cNvPr>
          <p:cNvCxnSpPr/>
          <p:nvPr/>
        </p:nvCxnSpPr>
        <p:spPr>
          <a:xfrm flipV="1">
            <a:off x="6233652" y="3429000"/>
            <a:ext cx="0" cy="418336"/>
          </a:xfrm>
          <a:prstGeom prst="line">
            <a:avLst/>
          </a:prstGeom>
          <a:ln w="3492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0" name="직선 연결선 39">
            <a:extLst>
              <a:ext uri="{FF2B5EF4-FFF2-40B4-BE49-F238E27FC236}">
                <a16:creationId xmlns:a16="http://schemas.microsoft.com/office/drawing/2014/main" id="{89867ED8-B3E7-DFD1-3F08-E97D40BD9F70}"/>
              </a:ext>
            </a:extLst>
          </p:cNvPr>
          <p:cNvCxnSpPr>
            <a:cxnSpLocks/>
          </p:cNvCxnSpPr>
          <p:nvPr/>
        </p:nvCxnSpPr>
        <p:spPr>
          <a:xfrm flipH="1" flipV="1">
            <a:off x="5355094" y="3408882"/>
            <a:ext cx="878558" cy="1992"/>
          </a:xfrm>
          <a:prstGeom prst="line">
            <a:avLst/>
          </a:prstGeom>
          <a:ln w="3492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3" name="직선 연결선 42">
            <a:extLst>
              <a:ext uri="{FF2B5EF4-FFF2-40B4-BE49-F238E27FC236}">
                <a16:creationId xmlns:a16="http://schemas.microsoft.com/office/drawing/2014/main" id="{B4DC975F-20E8-C4E8-E46E-40A608B3B8C5}"/>
              </a:ext>
            </a:extLst>
          </p:cNvPr>
          <p:cNvCxnSpPr>
            <a:cxnSpLocks/>
          </p:cNvCxnSpPr>
          <p:nvPr/>
        </p:nvCxnSpPr>
        <p:spPr>
          <a:xfrm>
            <a:off x="5355094" y="3408882"/>
            <a:ext cx="0" cy="438454"/>
          </a:xfrm>
          <a:prstGeom prst="line">
            <a:avLst/>
          </a:prstGeom>
          <a:ln w="3492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1" name="직선 연결선 50">
            <a:extLst>
              <a:ext uri="{FF2B5EF4-FFF2-40B4-BE49-F238E27FC236}">
                <a16:creationId xmlns:a16="http://schemas.microsoft.com/office/drawing/2014/main" id="{8F147D56-CC62-6F19-F869-B9C8411BC1B3}"/>
              </a:ext>
            </a:extLst>
          </p:cNvPr>
          <p:cNvCxnSpPr>
            <a:cxnSpLocks/>
            <a:endCxn id="55" idx="0"/>
          </p:cNvCxnSpPr>
          <p:nvPr/>
        </p:nvCxnSpPr>
        <p:spPr>
          <a:xfrm>
            <a:off x="6716502" y="4112729"/>
            <a:ext cx="2018865" cy="1097551"/>
          </a:xfrm>
          <a:prstGeom prst="line">
            <a:avLst/>
          </a:prstGeom>
          <a:ln w="349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8FC10752-0CEB-F13F-499E-4CB857D6264B}"/>
              </a:ext>
            </a:extLst>
          </p:cNvPr>
          <p:cNvSpPr/>
          <p:nvPr/>
        </p:nvSpPr>
        <p:spPr>
          <a:xfrm>
            <a:off x="8174928" y="5210280"/>
            <a:ext cx="1120877" cy="540099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귀환</a:t>
            </a:r>
          </a:p>
        </p:txBody>
      </p:sp>
      <p:cxnSp>
        <p:nvCxnSpPr>
          <p:cNvPr id="58" name="직선 연결선 57">
            <a:extLst>
              <a:ext uri="{FF2B5EF4-FFF2-40B4-BE49-F238E27FC236}">
                <a16:creationId xmlns:a16="http://schemas.microsoft.com/office/drawing/2014/main" id="{8BC0F563-9CE4-1E7A-D5EB-CF0BEB97A34A}"/>
              </a:ext>
            </a:extLst>
          </p:cNvPr>
          <p:cNvCxnSpPr>
            <a:cxnSpLocks/>
          </p:cNvCxnSpPr>
          <p:nvPr/>
        </p:nvCxnSpPr>
        <p:spPr>
          <a:xfrm>
            <a:off x="4075827" y="2954866"/>
            <a:ext cx="2762369" cy="0"/>
          </a:xfrm>
          <a:prstGeom prst="line">
            <a:avLst/>
          </a:prstGeom>
          <a:ln w="34925"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9" name="직선 연결선 58">
            <a:extLst>
              <a:ext uri="{FF2B5EF4-FFF2-40B4-BE49-F238E27FC236}">
                <a16:creationId xmlns:a16="http://schemas.microsoft.com/office/drawing/2014/main" id="{906D9F0F-5103-1E8D-A2B9-FB30D6E81A99}"/>
              </a:ext>
            </a:extLst>
          </p:cNvPr>
          <p:cNvCxnSpPr/>
          <p:nvPr/>
        </p:nvCxnSpPr>
        <p:spPr>
          <a:xfrm flipV="1">
            <a:off x="6838196" y="2518405"/>
            <a:ext cx="0" cy="427182"/>
          </a:xfrm>
          <a:prstGeom prst="line">
            <a:avLst/>
          </a:prstGeom>
          <a:ln w="34925"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0" name="직선 연결선 59">
            <a:extLst>
              <a:ext uri="{FF2B5EF4-FFF2-40B4-BE49-F238E27FC236}">
                <a16:creationId xmlns:a16="http://schemas.microsoft.com/office/drawing/2014/main" id="{64A619B7-9B1A-EF20-D8D1-5B1CE6480766}"/>
              </a:ext>
            </a:extLst>
          </p:cNvPr>
          <p:cNvCxnSpPr>
            <a:cxnSpLocks/>
          </p:cNvCxnSpPr>
          <p:nvPr/>
        </p:nvCxnSpPr>
        <p:spPr>
          <a:xfrm flipV="1">
            <a:off x="4075827" y="2527684"/>
            <a:ext cx="0" cy="427182"/>
          </a:xfrm>
          <a:prstGeom prst="line">
            <a:avLst/>
          </a:prstGeom>
          <a:ln w="34925"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1" name="직선 연결선 60">
            <a:extLst>
              <a:ext uri="{FF2B5EF4-FFF2-40B4-BE49-F238E27FC236}">
                <a16:creationId xmlns:a16="http://schemas.microsoft.com/office/drawing/2014/main" id="{D0D84075-0227-F147-FBBB-1A414A8E3803}"/>
              </a:ext>
            </a:extLst>
          </p:cNvPr>
          <p:cNvCxnSpPr>
            <a:cxnSpLocks/>
          </p:cNvCxnSpPr>
          <p:nvPr/>
        </p:nvCxnSpPr>
        <p:spPr>
          <a:xfrm flipV="1">
            <a:off x="4075827" y="2518405"/>
            <a:ext cx="2762369" cy="9279"/>
          </a:xfrm>
          <a:prstGeom prst="line">
            <a:avLst/>
          </a:prstGeom>
          <a:ln w="34925"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938304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7750100-4157-CB1A-C5EB-C36379885C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/>
              <a:t>기술적 요소 및 중점 연구 분야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F3C2C75-B5DF-CF5D-B652-F1FADC892E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 b="1" dirty="0"/>
              <a:t>1. </a:t>
            </a:r>
            <a:r>
              <a:rPr lang="ko-KR" altLang="en-US" b="1" dirty="0"/>
              <a:t>전투 시스템</a:t>
            </a:r>
            <a:endParaRPr lang="en-US" altLang="ko-KR" b="1" dirty="0"/>
          </a:p>
          <a:p>
            <a:pPr marL="0" indent="0">
              <a:buNone/>
            </a:pPr>
            <a:r>
              <a:rPr lang="en-US" altLang="ko-KR" b="1" dirty="0"/>
              <a:t>2. </a:t>
            </a:r>
            <a:r>
              <a:rPr lang="ko-KR" altLang="en-US" b="1" dirty="0"/>
              <a:t>이동 및 조작 시스템</a:t>
            </a:r>
            <a:endParaRPr lang="en-US" altLang="ko-KR" b="1" dirty="0"/>
          </a:p>
          <a:p>
            <a:pPr marL="0" indent="0">
              <a:buNone/>
            </a:pPr>
            <a:r>
              <a:rPr lang="en-US" altLang="ko-KR" b="1" dirty="0"/>
              <a:t>3. </a:t>
            </a:r>
            <a:r>
              <a:rPr lang="ko-KR" altLang="en-US" b="1" dirty="0"/>
              <a:t>캐릭터</a:t>
            </a:r>
          </a:p>
          <a:p>
            <a:pPr marL="0" indent="0">
              <a:buNone/>
            </a:pPr>
            <a:r>
              <a:rPr lang="en-US" altLang="ko-KR" b="1" dirty="0"/>
              <a:t>4. AI</a:t>
            </a:r>
          </a:p>
          <a:p>
            <a:pPr marL="0" indent="0">
              <a:buNone/>
            </a:pPr>
            <a:r>
              <a:rPr lang="en-US" altLang="ko-KR" b="1" dirty="0"/>
              <a:t>5. </a:t>
            </a:r>
            <a:r>
              <a:rPr lang="ko-KR" altLang="en-US" b="1" dirty="0"/>
              <a:t>맵 및 규칙 시스템</a:t>
            </a:r>
            <a:endParaRPr lang="en-US" altLang="ko-KR" b="1" dirty="0"/>
          </a:p>
          <a:p>
            <a:pPr marL="0" indent="0">
              <a:buNone/>
            </a:pPr>
            <a:r>
              <a:rPr lang="en-US" altLang="ko-KR" b="1" dirty="0"/>
              <a:t>6. </a:t>
            </a:r>
            <a:r>
              <a:rPr lang="ko-KR" altLang="en-US" b="1" dirty="0"/>
              <a:t>네트워크 시스템</a:t>
            </a:r>
          </a:p>
          <a:p>
            <a:pPr marL="0" indent="0">
              <a:buNone/>
            </a:pPr>
            <a:r>
              <a:rPr lang="en-US" altLang="ko-KR" b="1" dirty="0"/>
              <a:t>7. UI </a:t>
            </a:r>
            <a:r>
              <a:rPr lang="ko-KR" altLang="en-US" b="1" dirty="0"/>
              <a:t>시스템</a:t>
            </a:r>
          </a:p>
          <a:p>
            <a:endParaRPr lang="en-US" altLang="ko-KR" b="1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478186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 err="1"/>
              <a:t>전투</a:t>
            </a:r>
            <a:r>
              <a:rPr b="1" dirty="0"/>
              <a:t> </a:t>
            </a:r>
            <a:r>
              <a:rPr b="1" dirty="0" err="1"/>
              <a:t>시스템</a:t>
            </a:r>
            <a:r>
              <a:rPr lang="en-US" b="1" dirty="0"/>
              <a:t>(</a:t>
            </a:r>
            <a:r>
              <a:rPr lang="ko-KR" altLang="en-US" b="1" dirty="0"/>
              <a:t>보완</a:t>
            </a:r>
            <a:r>
              <a:rPr lang="en-US" b="1" dirty="0"/>
              <a:t>)</a:t>
            </a:r>
            <a:endParaRPr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b="1" dirty="0"/>
              <a:t>스킬 시스템</a:t>
            </a:r>
            <a:endParaRPr lang="en-US" altLang="ko-KR" b="1" dirty="0"/>
          </a:p>
          <a:p>
            <a:pPr lvl="1"/>
            <a:r>
              <a:rPr lang="ko-KR" altLang="en-US" b="1" dirty="0" err="1"/>
              <a:t>쿨다운</a:t>
            </a:r>
            <a:r>
              <a:rPr lang="en-US" altLang="ko-KR" b="1" dirty="0"/>
              <a:t>, </a:t>
            </a:r>
            <a:r>
              <a:rPr lang="ko-KR" altLang="en-US" b="1" dirty="0"/>
              <a:t>마나</a:t>
            </a:r>
            <a:r>
              <a:rPr lang="en-US" altLang="ko-KR" b="1" dirty="0"/>
              <a:t>/</a:t>
            </a:r>
            <a:r>
              <a:rPr lang="ko-KR" altLang="en-US" b="1" dirty="0"/>
              <a:t>자원</a:t>
            </a:r>
            <a:r>
              <a:rPr lang="en-US" altLang="ko-KR" b="1" dirty="0"/>
              <a:t>, </a:t>
            </a:r>
            <a:r>
              <a:rPr lang="ko-KR" altLang="en-US" b="1" dirty="0"/>
              <a:t>타겟팅 방식</a:t>
            </a:r>
            <a:r>
              <a:rPr lang="en-US" altLang="ko-KR" b="1" dirty="0"/>
              <a:t>, </a:t>
            </a:r>
            <a:r>
              <a:rPr lang="ko-KR" altLang="en-US" b="1" dirty="0"/>
              <a:t>데미지 계산 등</a:t>
            </a:r>
          </a:p>
          <a:p>
            <a:r>
              <a:rPr lang="ko-KR" altLang="en-US" b="1" dirty="0"/>
              <a:t>버프</a:t>
            </a:r>
            <a:r>
              <a:rPr lang="en-US" altLang="ko-KR" b="1" dirty="0"/>
              <a:t>/</a:t>
            </a:r>
            <a:r>
              <a:rPr lang="ko-KR" altLang="en-US" b="1" dirty="0" err="1"/>
              <a:t>디버프</a:t>
            </a:r>
            <a:r>
              <a:rPr lang="en-US" altLang="ko-KR" b="1" dirty="0"/>
              <a:t>, </a:t>
            </a:r>
            <a:r>
              <a:rPr lang="ko-KR" altLang="en-US" b="1" dirty="0"/>
              <a:t>상태이상 관리</a:t>
            </a:r>
          </a:p>
          <a:p>
            <a:r>
              <a:rPr lang="ko-KR" altLang="en-US" b="1" dirty="0"/>
              <a:t>데미지 계산 구조 설계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 err="1"/>
              <a:t>전투</a:t>
            </a:r>
            <a:r>
              <a:rPr b="1" dirty="0"/>
              <a:t> </a:t>
            </a:r>
            <a:r>
              <a:rPr b="1" dirty="0" err="1"/>
              <a:t>시스템</a:t>
            </a:r>
            <a:r>
              <a:rPr b="1" dirty="0"/>
              <a:t> </a:t>
            </a:r>
            <a:r>
              <a:rPr b="1" dirty="0" err="1"/>
              <a:t>구현</a:t>
            </a:r>
            <a:r>
              <a:rPr b="1" dirty="0"/>
              <a:t> </a:t>
            </a:r>
            <a:r>
              <a:rPr b="1" dirty="0" err="1"/>
              <a:t>방법</a:t>
            </a:r>
            <a:endParaRPr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b="1" dirty="0"/>
              <a:t>GAS(Gameplay Ability System) </a:t>
            </a:r>
            <a:r>
              <a:rPr lang="ko-KR" altLang="en-US" b="1" dirty="0"/>
              <a:t>사용</a:t>
            </a:r>
            <a:endParaRPr lang="en-US" altLang="ko-KR" b="1" dirty="0"/>
          </a:p>
          <a:p>
            <a:pPr lvl="1"/>
            <a:r>
              <a:rPr lang="en-US" altLang="ko-KR" b="1" dirty="0"/>
              <a:t>Ability → </a:t>
            </a:r>
            <a:r>
              <a:rPr lang="ko-KR" altLang="en-US" b="1" dirty="0"/>
              <a:t>스킬 정의</a:t>
            </a:r>
          </a:p>
          <a:p>
            <a:pPr lvl="1"/>
            <a:r>
              <a:rPr lang="en-US" altLang="ko-KR" b="1" dirty="0"/>
              <a:t>Gameplay Effect → </a:t>
            </a:r>
            <a:r>
              <a:rPr lang="ko-KR" altLang="en-US" b="1" dirty="0"/>
              <a:t>버프</a:t>
            </a:r>
            <a:r>
              <a:rPr lang="en-US" altLang="ko-KR" b="1" dirty="0"/>
              <a:t>/</a:t>
            </a:r>
            <a:r>
              <a:rPr lang="ko-KR" altLang="en-US" b="1" dirty="0" err="1"/>
              <a:t>디버프</a:t>
            </a:r>
            <a:endParaRPr lang="ko-KR" altLang="en-US" b="1" dirty="0"/>
          </a:p>
          <a:p>
            <a:pPr lvl="1"/>
            <a:r>
              <a:rPr lang="en-US" altLang="ko-KR" b="1" dirty="0"/>
              <a:t>Attribute Set → </a:t>
            </a:r>
            <a:r>
              <a:rPr lang="ko-KR" altLang="en-US" b="1" dirty="0"/>
              <a:t>체력</a:t>
            </a:r>
            <a:r>
              <a:rPr lang="en-US" altLang="ko-KR" b="1" dirty="0"/>
              <a:t>, </a:t>
            </a:r>
            <a:r>
              <a:rPr lang="ko-KR" altLang="en-US" b="1" dirty="0"/>
              <a:t>공격력 등 관리</a:t>
            </a:r>
          </a:p>
          <a:p>
            <a:pPr lvl="1"/>
            <a:r>
              <a:rPr lang="en-US" altLang="ko-KR" b="1" dirty="0"/>
              <a:t>Gameplay Tag → </a:t>
            </a:r>
            <a:r>
              <a:rPr lang="ko-KR" altLang="en-US" b="1" dirty="0"/>
              <a:t>상태 관리</a:t>
            </a:r>
            <a:endParaRPr lang="en-US" altLang="ko-KR" b="1" dirty="0"/>
          </a:p>
          <a:p>
            <a:endParaRPr lang="en-US" altLang="ko-KR" b="1" dirty="0"/>
          </a:p>
          <a:p>
            <a:r>
              <a:rPr lang="ko-KR" altLang="en-US" b="1" dirty="0"/>
              <a:t>데미지 계산 구조 기존 게임과 동일</a:t>
            </a:r>
            <a:endParaRPr lang="en-US" altLang="ko-KR" b="1" dirty="0"/>
          </a:p>
          <a:p>
            <a:pPr lvl="1"/>
            <a:r>
              <a:rPr lang="ko-KR" altLang="en-US" b="1" dirty="0"/>
              <a:t>기존 게임의 </a:t>
            </a:r>
            <a:r>
              <a:rPr lang="ko-KR" altLang="en-US" b="1" dirty="0" err="1"/>
              <a:t>피해량</a:t>
            </a:r>
            <a:r>
              <a:rPr lang="ko-KR" altLang="en-US" b="1" dirty="0"/>
              <a:t> </a:t>
            </a:r>
            <a:r>
              <a:rPr lang="ko-KR" altLang="en-US" b="1" dirty="0" err="1"/>
              <a:t>경감량</a:t>
            </a:r>
            <a:r>
              <a:rPr lang="ko-KR" altLang="en-US" b="1" dirty="0"/>
              <a:t> 공식과 </a:t>
            </a:r>
            <a:r>
              <a:rPr lang="ko-KR" altLang="en-US" b="1" dirty="0" err="1"/>
              <a:t>관통력</a:t>
            </a:r>
            <a:r>
              <a:rPr lang="ko-KR" altLang="en-US" b="1" dirty="0"/>
              <a:t> 공식을 활용</a:t>
            </a:r>
            <a:endParaRPr lang="en-US" altLang="ko-KR" b="1" dirty="0"/>
          </a:p>
          <a:p>
            <a:pPr lvl="1"/>
            <a:endParaRPr lang="en-US" b="1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/>
              <a:t>이동 및 조작</a:t>
            </a:r>
            <a:r>
              <a:rPr b="1" dirty="0"/>
              <a:t> </a:t>
            </a:r>
            <a:r>
              <a:rPr b="1" dirty="0" err="1"/>
              <a:t>시스템</a:t>
            </a:r>
            <a:r>
              <a:rPr lang="en-US" b="1" dirty="0"/>
              <a:t>(</a:t>
            </a:r>
            <a:r>
              <a:rPr lang="ko-KR" altLang="en-US" b="1" dirty="0"/>
              <a:t>보완</a:t>
            </a:r>
            <a:r>
              <a:rPr lang="en-US" b="1" dirty="0"/>
              <a:t>)</a:t>
            </a:r>
            <a:endParaRPr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 dirty="0" err="1"/>
              <a:t>클릭</a:t>
            </a:r>
            <a:r>
              <a:rPr b="1" dirty="0"/>
              <a:t> </a:t>
            </a:r>
            <a:r>
              <a:rPr b="1" dirty="0" err="1"/>
              <a:t>기반</a:t>
            </a:r>
            <a:r>
              <a:rPr b="1" dirty="0"/>
              <a:t> </a:t>
            </a:r>
            <a:r>
              <a:rPr b="1" dirty="0" err="1"/>
              <a:t>이동</a:t>
            </a:r>
            <a:r>
              <a:rPr b="1" dirty="0"/>
              <a:t> </a:t>
            </a:r>
            <a:r>
              <a:rPr lang="ko-KR" altLang="en-US" b="1" dirty="0"/>
              <a:t>및 공격 </a:t>
            </a:r>
            <a:r>
              <a:rPr b="1" dirty="0" err="1"/>
              <a:t>구현</a:t>
            </a:r>
            <a:endParaRPr b="1" dirty="0"/>
          </a:p>
          <a:p>
            <a:r>
              <a:rPr b="1" dirty="0" err="1"/>
              <a:t>NavMesh</a:t>
            </a:r>
            <a:r>
              <a:rPr b="1" dirty="0"/>
              <a:t> </a:t>
            </a:r>
            <a:r>
              <a:rPr b="1" dirty="0" err="1"/>
              <a:t>기반</a:t>
            </a:r>
            <a:r>
              <a:rPr b="1" dirty="0"/>
              <a:t> </a:t>
            </a:r>
            <a:r>
              <a:rPr b="1" dirty="0" err="1"/>
              <a:t>경로</a:t>
            </a:r>
            <a:r>
              <a:rPr b="1" dirty="0"/>
              <a:t> </a:t>
            </a:r>
            <a:r>
              <a:rPr b="1" dirty="0" err="1"/>
              <a:t>탐색</a:t>
            </a:r>
            <a:endParaRPr b="1" dirty="0"/>
          </a:p>
          <a:p>
            <a:r>
              <a:rPr b="1" dirty="0" err="1"/>
              <a:t>유닛</a:t>
            </a:r>
            <a:r>
              <a:rPr b="1" dirty="0"/>
              <a:t> </a:t>
            </a:r>
            <a:r>
              <a:rPr b="1" dirty="0" err="1"/>
              <a:t>충돌</a:t>
            </a:r>
            <a:r>
              <a:rPr b="1" dirty="0"/>
              <a:t> </a:t>
            </a:r>
            <a:r>
              <a:rPr b="1" dirty="0" err="1"/>
              <a:t>처리</a:t>
            </a:r>
            <a:r>
              <a:rPr lang="en-US" b="1" dirty="0"/>
              <a:t>(</a:t>
            </a:r>
            <a:r>
              <a:rPr lang="ko-KR" altLang="en-US" b="1" dirty="0"/>
              <a:t>유닛 간 밀림</a:t>
            </a:r>
            <a:r>
              <a:rPr lang="en-US" altLang="ko-KR" b="1" dirty="0"/>
              <a:t>, </a:t>
            </a:r>
            <a:r>
              <a:rPr lang="ko-KR" altLang="en-US" b="1" dirty="0"/>
              <a:t>이동 불가 지형</a:t>
            </a:r>
            <a:r>
              <a:rPr lang="en-US" b="1" dirty="0"/>
              <a:t>)</a:t>
            </a:r>
            <a:endParaRPr b="1" dirty="0"/>
          </a:p>
          <a:p>
            <a:r>
              <a:rPr b="1" dirty="0" err="1"/>
              <a:t>대시</a:t>
            </a:r>
            <a:r>
              <a:rPr b="1" dirty="0"/>
              <a:t> 및 </a:t>
            </a:r>
            <a:r>
              <a:rPr b="1" dirty="0" err="1"/>
              <a:t>블링크</a:t>
            </a:r>
            <a:r>
              <a:rPr lang="en-US" b="1" dirty="0"/>
              <a:t> </a:t>
            </a:r>
            <a:r>
              <a:rPr lang="ko-KR" altLang="en-US" b="1" dirty="0"/>
              <a:t>등 스킬</a:t>
            </a:r>
            <a:r>
              <a:rPr b="1" dirty="0"/>
              <a:t> </a:t>
            </a:r>
            <a:r>
              <a:rPr b="1" dirty="0" err="1"/>
              <a:t>처리</a:t>
            </a:r>
            <a:endParaRPr b="1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 err="1"/>
              <a:t>이동</a:t>
            </a:r>
            <a:r>
              <a:rPr b="1" dirty="0"/>
              <a:t> </a:t>
            </a:r>
            <a:r>
              <a:rPr lang="ko-KR" altLang="en-US" b="1" dirty="0"/>
              <a:t>및 조작 </a:t>
            </a:r>
            <a:r>
              <a:rPr b="1" dirty="0" err="1"/>
              <a:t>시스템</a:t>
            </a:r>
            <a:r>
              <a:rPr b="1" dirty="0"/>
              <a:t> </a:t>
            </a:r>
            <a:r>
              <a:rPr b="1" dirty="0" err="1"/>
              <a:t>구현</a:t>
            </a:r>
            <a:r>
              <a:rPr b="1" dirty="0"/>
              <a:t> </a:t>
            </a:r>
            <a:r>
              <a:rPr b="1" dirty="0" err="1"/>
              <a:t>방법</a:t>
            </a:r>
            <a:endParaRPr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err="1"/>
              <a:t>PlayerController</a:t>
            </a:r>
            <a:endParaRPr lang="en-US" b="1" dirty="0"/>
          </a:p>
          <a:p>
            <a:pPr lvl="1"/>
            <a:r>
              <a:rPr lang="ko-KR" altLang="en-US" b="1" dirty="0"/>
              <a:t>이동</a:t>
            </a:r>
            <a:r>
              <a:rPr lang="en-US" altLang="ko-KR" b="1" dirty="0"/>
              <a:t>/</a:t>
            </a:r>
            <a:r>
              <a:rPr lang="ko-KR" altLang="en-US" b="1" dirty="0"/>
              <a:t>조작 시스템 구현</a:t>
            </a:r>
            <a:endParaRPr lang="en-US" b="1" dirty="0"/>
          </a:p>
          <a:p>
            <a:pPr lvl="1"/>
            <a:r>
              <a:rPr b="1" dirty="0" err="1"/>
              <a:t>CharacterMovementComponent</a:t>
            </a:r>
            <a:r>
              <a:rPr lang="en-US" b="1" dirty="0"/>
              <a:t>(CMC)</a:t>
            </a:r>
            <a:r>
              <a:rPr b="1" dirty="0"/>
              <a:t> </a:t>
            </a:r>
            <a:r>
              <a:rPr b="1" dirty="0" err="1"/>
              <a:t>활용</a:t>
            </a:r>
            <a:r>
              <a:rPr lang="ko-KR" altLang="en-US" b="1" dirty="0"/>
              <a:t>하여 이동 시스템 구현</a:t>
            </a:r>
            <a:endParaRPr lang="en-US" b="1" dirty="0"/>
          </a:p>
          <a:p>
            <a:endParaRPr lang="en-US" b="1" dirty="0"/>
          </a:p>
          <a:p>
            <a:r>
              <a:rPr lang="en-US" b="1" dirty="0"/>
              <a:t>NPC</a:t>
            </a:r>
            <a:r>
              <a:rPr lang="ko-KR" altLang="en-US" b="1" dirty="0"/>
              <a:t>의 경우 </a:t>
            </a:r>
            <a:r>
              <a:rPr lang="en-US" altLang="ko-KR" b="1" dirty="0" err="1"/>
              <a:t>AIController</a:t>
            </a:r>
            <a:r>
              <a:rPr lang="en-US" altLang="ko-KR" b="1" dirty="0"/>
              <a:t> + </a:t>
            </a:r>
            <a:r>
              <a:rPr lang="ko-KR" altLang="en-US" b="1" dirty="0"/>
              <a:t>직접 설계한 가벼운 </a:t>
            </a:r>
            <a:r>
              <a:rPr lang="en-US" altLang="ko-KR" b="1" dirty="0"/>
              <a:t>Component</a:t>
            </a:r>
          </a:p>
          <a:p>
            <a:pPr lvl="1"/>
            <a:r>
              <a:rPr lang="ko-KR" altLang="en-US" b="1" dirty="0" err="1"/>
              <a:t>언리얼</a:t>
            </a:r>
            <a:r>
              <a:rPr lang="ko-KR" altLang="en-US" b="1" dirty="0"/>
              <a:t> </a:t>
            </a:r>
            <a:r>
              <a:rPr lang="en-US" altLang="ko-KR" b="1" dirty="0"/>
              <a:t>CMC</a:t>
            </a:r>
            <a:r>
              <a:rPr lang="ko-KR" altLang="en-US" b="1" dirty="0"/>
              <a:t>는 무겁고 비싸기 때문에 </a:t>
            </a:r>
            <a:r>
              <a:rPr lang="en-US" altLang="ko-KR" b="1" dirty="0"/>
              <a:t>NPC</a:t>
            </a:r>
            <a:r>
              <a:rPr lang="ko-KR" altLang="en-US" b="1" dirty="0"/>
              <a:t>에는 어울리지 않음</a:t>
            </a:r>
            <a:r>
              <a:rPr lang="en-US" altLang="ko-KR" b="1" dirty="0"/>
              <a:t>.</a:t>
            </a:r>
            <a:endParaRPr b="1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3C99DD0-ED5E-625D-560E-F962A1F1EB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/>
              <a:t>캐릭터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4B70A1B-CC2E-F755-4488-E5524A2DE2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600584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b="1" dirty="0" err="1"/>
              <a:t>미니언</a:t>
            </a:r>
            <a:r>
              <a:rPr lang="en-US" b="1" dirty="0"/>
              <a:t> AI</a:t>
            </a:r>
          </a:p>
          <a:p>
            <a:pPr lvl="1"/>
            <a:r>
              <a:rPr lang="ko-KR" altLang="en-US" b="1" dirty="0"/>
              <a:t>타겟팅</a:t>
            </a:r>
            <a:endParaRPr lang="en-US" altLang="ko-KR" b="1" dirty="0"/>
          </a:p>
          <a:p>
            <a:pPr lvl="1"/>
            <a:r>
              <a:rPr lang="ko-KR" altLang="en-US" b="1" dirty="0"/>
              <a:t>이동</a:t>
            </a:r>
            <a:endParaRPr lang="en-US" altLang="ko-KR" b="1" dirty="0"/>
          </a:p>
          <a:p>
            <a:pPr lvl="1"/>
            <a:r>
              <a:rPr lang="ko-KR" altLang="en-US" b="1" dirty="0"/>
              <a:t>공격 범위 내에서 우호 챔피언이 </a:t>
            </a:r>
            <a:r>
              <a:rPr lang="ko-KR" altLang="en-US" b="1" dirty="0" err="1"/>
              <a:t>피격당할</a:t>
            </a:r>
            <a:r>
              <a:rPr lang="ko-KR" altLang="en-US" b="1" dirty="0"/>
              <a:t> 시 공격한 대상</a:t>
            </a:r>
            <a:r>
              <a:rPr lang="en-US" altLang="ko-KR" b="1" dirty="0"/>
              <a:t>(</a:t>
            </a:r>
            <a:r>
              <a:rPr lang="ko-KR" altLang="en-US" b="1" dirty="0"/>
              <a:t>챔피언</a:t>
            </a:r>
            <a:r>
              <a:rPr lang="en-US" altLang="ko-KR" b="1" dirty="0"/>
              <a:t>)</a:t>
            </a:r>
            <a:r>
              <a:rPr lang="ko-KR" altLang="en-US" b="1" dirty="0"/>
              <a:t>에게 공격</a:t>
            </a:r>
            <a:endParaRPr b="1" dirty="0"/>
          </a:p>
          <a:p>
            <a:r>
              <a:rPr b="1" dirty="0" err="1"/>
              <a:t>타워</a:t>
            </a:r>
            <a:r>
              <a:rPr b="1" dirty="0"/>
              <a:t> </a:t>
            </a:r>
            <a:r>
              <a:rPr lang="en-US" b="1" dirty="0"/>
              <a:t>AI</a:t>
            </a:r>
          </a:p>
          <a:p>
            <a:pPr lvl="1"/>
            <a:r>
              <a:rPr lang="ko-KR" altLang="en-US" b="1" dirty="0"/>
              <a:t>이동하지 않기 때문에 타겟팅만 생각함</a:t>
            </a:r>
            <a:r>
              <a:rPr lang="en-US" altLang="ko-KR" b="1" dirty="0"/>
              <a:t>.</a:t>
            </a:r>
          </a:p>
          <a:p>
            <a:pPr lvl="1"/>
            <a:r>
              <a:rPr lang="ko-KR" altLang="en-US" b="1" dirty="0"/>
              <a:t>대포 </a:t>
            </a:r>
            <a:r>
              <a:rPr lang="ko-KR" altLang="en-US" b="1" dirty="0" err="1"/>
              <a:t>미니언</a:t>
            </a:r>
            <a:r>
              <a:rPr lang="ko-KR" altLang="en-US" b="1" dirty="0"/>
              <a:t> </a:t>
            </a:r>
            <a:r>
              <a:rPr lang="en-US" altLang="ko-KR" b="1" dirty="0"/>
              <a:t>-&gt; </a:t>
            </a:r>
            <a:r>
              <a:rPr lang="ko-KR" altLang="en-US" b="1" dirty="0"/>
              <a:t>근거리 </a:t>
            </a:r>
            <a:r>
              <a:rPr lang="ko-KR" altLang="en-US" b="1" dirty="0" err="1"/>
              <a:t>미니언</a:t>
            </a:r>
            <a:r>
              <a:rPr lang="ko-KR" altLang="en-US" b="1" dirty="0"/>
              <a:t> </a:t>
            </a:r>
            <a:r>
              <a:rPr lang="en-US" altLang="ko-KR" b="1" dirty="0"/>
              <a:t>-&gt; </a:t>
            </a:r>
            <a:r>
              <a:rPr lang="ko-KR" altLang="en-US" b="1" dirty="0"/>
              <a:t>원거리 </a:t>
            </a:r>
            <a:r>
              <a:rPr lang="ko-KR" altLang="en-US" b="1" dirty="0" err="1"/>
              <a:t>미니언</a:t>
            </a:r>
            <a:r>
              <a:rPr lang="ko-KR" altLang="en-US" b="1" dirty="0"/>
              <a:t> </a:t>
            </a:r>
            <a:r>
              <a:rPr lang="en-US" altLang="ko-KR" b="1" dirty="0"/>
              <a:t>-&gt; </a:t>
            </a:r>
            <a:r>
              <a:rPr lang="ko-KR" altLang="en-US" b="1" dirty="0"/>
              <a:t>가까운 챔피언</a:t>
            </a:r>
            <a:endParaRPr lang="en-US" altLang="ko-KR" b="1" dirty="0"/>
          </a:p>
          <a:p>
            <a:pPr lvl="1"/>
            <a:r>
              <a:rPr lang="ko-KR" altLang="en-US" b="1" dirty="0"/>
              <a:t>공격 범위 내에서 우호 챔피언이 </a:t>
            </a:r>
            <a:r>
              <a:rPr lang="ko-KR" altLang="en-US" b="1" dirty="0" err="1"/>
              <a:t>피격당할</a:t>
            </a:r>
            <a:r>
              <a:rPr lang="ko-KR" altLang="en-US" b="1" dirty="0"/>
              <a:t> 시 공격한 대상</a:t>
            </a:r>
            <a:r>
              <a:rPr lang="en-US" altLang="ko-KR" b="1" dirty="0"/>
              <a:t>(</a:t>
            </a:r>
            <a:r>
              <a:rPr lang="ko-KR" altLang="en-US" b="1" dirty="0"/>
              <a:t>챔피언</a:t>
            </a:r>
            <a:r>
              <a:rPr lang="en-US" altLang="ko-KR" b="1" dirty="0"/>
              <a:t>)</a:t>
            </a:r>
            <a:r>
              <a:rPr lang="ko-KR" altLang="en-US" b="1" dirty="0"/>
              <a:t>에게 공격</a:t>
            </a:r>
            <a:endParaRPr b="1" dirty="0"/>
          </a:p>
          <a:p>
            <a:r>
              <a:rPr b="1" dirty="0" err="1"/>
              <a:t>정글</a:t>
            </a:r>
            <a:r>
              <a:rPr b="1" dirty="0"/>
              <a:t> </a:t>
            </a:r>
            <a:r>
              <a:rPr b="1" dirty="0" err="1"/>
              <a:t>몬스터</a:t>
            </a:r>
            <a:r>
              <a:rPr b="1" dirty="0"/>
              <a:t> AI</a:t>
            </a:r>
            <a:endParaRPr lang="en-US" b="1" dirty="0"/>
          </a:p>
          <a:p>
            <a:pPr lvl="1"/>
            <a:r>
              <a:rPr lang="ko-KR" altLang="en-US" b="1" dirty="0"/>
              <a:t>공격받기 전까지는 공격하지 않음</a:t>
            </a:r>
            <a:endParaRPr lang="en-US" altLang="ko-KR" b="1" dirty="0"/>
          </a:p>
          <a:p>
            <a:pPr lvl="1"/>
            <a:r>
              <a:rPr lang="ko-KR" altLang="en-US" b="1" dirty="0"/>
              <a:t>인내심 시스템</a:t>
            </a:r>
            <a:r>
              <a:rPr lang="en-US" altLang="ko-KR" b="1" dirty="0"/>
              <a:t>:</a:t>
            </a:r>
            <a:r>
              <a:rPr lang="ko-KR" altLang="en-US" b="1" dirty="0"/>
              <a:t> 공격 대상이 정해진 범위를 벗어나면 추적하지 않고 체력을 회복함</a:t>
            </a:r>
            <a:r>
              <a:rPr lang="en-US" altLang="ko-KR" b="1" dirty="0"/>
              <a:t>.</a:t>
            </a:r>
            <a:endParaRPr lang="en-US" b="1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맵 및 </a:t>
            </a:r>
            <a:r>
              <a:rPr b="1" dirty="0" err="1"/>
              <a:t>게임</a:t>
            </a:r>
            <a:r>
              <a:rPr b="1" dirty="0"/>
              <a:t> </a:t>
            </a:r>
            <a:r>
              <a:rPr b="1" dirty="0" err="1"/>
              <a:t>규칙</a:t>
            </a:r>
            <a:r>
              <a:rPr b="1" dirty="0"/>
              <a:t> </a:t>
            </a:r>
            <a:r>
              <a:rPr b="1" dirty="0" err="1"/>
              <a:t>시스템</a:t>
            </a:r>
            <a:endParaRPr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b="1" dirty="0"/>
              <a:t>승패 조건</a:t>
            </a:r>
            <a:r>
              <a:rPr lang="en-US" altLang="ko-KR" b="1" dirty="0"/>
              <a:t>, </a:t>
            </a:r>
            <a:r>
              <a:rPr lang="ko-KR" altLang="en-US" b="1" dirty="0" err="1"/>
              <a:t>리스폰</a:t>
            </a:r>
            <a:r>
              <a:rPr lang="ko-KR" altLang="en-US" b="1" dirty="0"/>
              <a:t> 시간</a:t>
            </a:r>
            <a:r>
              <a:rPr lang="en-US" altLang="ko-KR" b="1" dirty="0"/>
              <a:t>, </a:t>
            </a:r>
          </a:p>
          <a:p>
            <a:r>
              <a:rPr lang="ko-KR" altLang="en-US" b="1" dirty="0" err="1"/>
              <a:t>레벨업</a:t>
            </a:r>
            <a:r>
              <a:rPr lang="en-US" altLang="ko-KR" b="1" dirty="0"/>
              <a:t>, </a:t>
            </a:r>
            <a:r>
              <a:rPr lang="ko-KR" altLang="en-US" b="1" dirty="0"/>
              <a:t>경험치 분배</a:t>
            </a:r>
            <a:r>
              <a:rPr lang="en-US" altLang="ko-KR" b="1" dirty="0"/>
              <a:t>, </a:t>
            </a:r>
            <a:r>
              <a:rPr lang="ko-KR" altLang="en-US" b="1" dirty="0"/>
              <a:t>골드 획득</a:t>
            </a:r>
            <a:r>
              <a:rPr lang="en-US" altLang="ko-KR" b="1" dirty="0"/>
              <a:t>, </a:t>
            </a:r>
            <a:r>
              <a:rPr lang="ko-KR" altLang="en-US" b="1" dirty="0"/>
              <a:t>타이머 관리</a:t>
            </a:r>
            <a:r>
              <a:rPr lang="en-US" altLang="ko-KR" b="1" dirty="0"/>
              <a:t>,</a:t>
            </a:r>
            <a:r>
              <a:rPr lang="ko-KR" altLang="en-US" b="1" dirty="0"/>
              <a:t> </a:t>
            </a:r>
            <a:endParaRPr lang="en-US" altLang="ko-KR" b="1" dirty="0"/>
          </a:p>
          <a:p>
            <a:r>
              <a:rPr lang="ko-KR" altLang="en-US" b="1" dirty="0" err="1"/>
              <a:t>미니언</a:t>
            </a:r>
            <a:r>
              <a:rPr lang="ko-KR" altLang="en-US" b="1" dirty="0"/>
              <a:t> 웨이브</a:t>
            </a:r>
            <a:r>
              <a:rPr lang="en-US" altLang="ko-KR" b="1" dirty="0"/>
              <a:t>,</a:t>
            </a:r>
            <a:r>
              <a:rPr lang="ko-KR" altLang="en-US" b="1" dirty="0"/>
              <a:t> 정글 몬스터 </a:t>
            </a:r>
            <a:r>
              <a:rPr lang="ko-KR" altLang="en-US" b="1" dirty="0" err="1"/>
              <a:t>스폰</a:t>
            </a:r>
            <a:endParaRPr lang="en-US" altLang="ko-KR" b="1" dirty="0"/>
          </a:p>
          <a:p>
            <a:r>
              <a:rPr lang="en-US" altLang="ko-KR" b="1" dirty="0"/>
              <a:t>Fog of War, </a:t>
            </a:r>
            <a:r>
              <a:rPr lang="ko-KR" altLang="en-US" b="1" dirty="0" err="1"/>
              <a:t>부쉬</a:t>
            </a:r>
            <a:r>
              <a:rPr lang="ko-KR" altLang="en-US" b="1" dirty="0"/>
              <a:t> 시스템</a:t>
            </a:r>
            <a:r>
              <a:rPr lang="en-US" altLang="ko-KR" b="1" dirty="0"/>
              <a:t>, </a:t>
            </a:r>
            <a:r>
              <a:rPr lang="ko-KR" altLang="en-US" b="1" dirty="0" err="1"/>
              <a:t>와드</a:t>
            </a:r>
            <a:r>
              <a:rPr lang="ko-KR" altLang="en-US" b="1" dirty="0"/>
              <a:t> 시스템 등 </a:t>
            </a:r>
            <a:endParaRPr lang="en-US" b="1" dirty="0"/>
          </a:p>
          <a:p>
            <a:endParaRPr lang="en-US" b="1" dirty="0"/>
          </a:p>
          <a:p>
            <a:r>
              <a:rPr b="1" dirty="0" err="1"/>
              <a:t>GameMode</a:t>
            </a:r>
            <a:r>
              <a:rPr b="1" dirty="0"/>
              <a:t> → </a:t>
            </a:r>
            <a:r>
              <a:rPr b="1" dirty="0" err="1"/>
              <a:t>게임</a:t>
            </a:r>
            <a:r>
              <a:rPr b="1" dirty="0"/>
              <a:t> </a:t>
            </a:r>
            <a:r>
              <a:rPr b="1" dirty="0" err="1"/>
              <a:t>규칙</a:t>
            </a:r>
            <a:r>
              <a:rPr b="1" dirty="0"/>
              <a:t> </a:t>
            </a:r>
            <a:r>
              <a:rPr b="1" dirty="0" err="1"/>
              <a:t>관리</a:t>
            </a:r>
            <a:endParaRPr lang="en-US" b="1" dirty="0"/>
          </a:p>
          <a:p>
            <a:r>
              <a:rPr b="1" dirty="0" err="1"/>
              <a:t>GameState</a:t>
            </a:r>
            <a:r>
              <a:rPr b="1" dirty="0"/>
              <a:t> → </a:t>
            </a:r>
            <a:r>
              <a:rPr b="1" dirty="0" err="1"/>
              <a:t>경기</a:t>
            </a:r>
            <a:r>
              <a:rPr b="1" dirty="0"/>
              <a:t> </a:t>
            </a:r>
            <a:r>
              <a:rPr b="1" dirty="0" err="1"/>
              <a:t>상태</a:t>
            </a:r>
            <a:r>
              <a:rPr b="1" dirty="0"/>
              <a:t> </a:t>
            </a:r>
            <a:r>
              <a:rPr b="1" dirty="0" err="1"/>
              <a:t>동기화</a:t>
            </a:r>
            <a:endParaRPr b="1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 err="1"/>
              <a:t>네트워크</a:t>
            </a:r>
            <a:r>
              <a:rPr b="1" dirty="0"/>
              <a:t> </a:t>
            </a:r>
            <a:r>
              <a:rPr lang="ko-KR" altLang="en-US" b="1" dirty="0"/>
              <a:t>구조</a:t>
            </a:r>
            <a:endParaRPr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b="1" dirty="0"/>
              <a:t>Server Authoritative </a:t>
            </a:r>
            <a:r>
              <a:rPr b="1" dirty="0" err="1"/>
              <a:t>구조</a:t>
            </a:r>
            <a:endParaRPr b="1" dirty="0"/>
          </a:p>
          <a:p>
            <a:r>
              <a:rPr b="1" dirty="0"/>
              <a:t>RPC </a:t>
            </a:r>
            <a:r>
              <a:rPr b="1" dirty="0" err="1"/>
              <a:t>구조</a:t>
            </a:r>
            <a:r>
              <a:rPr b="1" dirty="0"/>
              <a:t> </a:t>
            </a:r>
            <a:r>
              <a:rPr b="1" dirty="0" err="1"/>
              <a:t>설계</a:t>
            </a:r>
            <a:endParaRPr b="1" dirty="0"/>
          </a:p>
          <a:p>
            <a:r>
              <a:rPr b="1" dirty="0" err="1"/>
              <a:t>보간</a:t>
            </a:r>
            <a:r>
              <a:rPr b="1" dirty="0"/>
              <a:t> 및 </a:t>
            </a:r>
            <a:r>
              <a:rPr b="1" dirty="0" err="1"/>
              <a:t>지연</a:t>
            </a:r>
            <a:r>
              <a:rPr b="1" dirty="0"/>
              <a:t> </a:t>
            </a:r>
            <a:r>
              <a:rPr b="1" dirty="0" err="1"/>
              <a:t>보상</a:t>
            </a:r>
            <a:r>
              <a:rPr b="1" dirty="0"/>
              <a:t> </a:t>
            </a:r>
            <a:r>
              <a:rPr b="1" dirty="0" err="1"/>
              <a:t>처리</a:t>
            </a:r>
            <a:endParaRPr lang="en-US" b="1" dirty="0"/>
          </a:p>
          <a:p>
            <a:r>
              <a:rPr lang="ko-KR" altLang="en-US" sz="2000" b="1" dirty="0"/>
              <a:t>기존 게임</a:t>
            </a:r>
            <a:r>
              <a:rPr lang="en-US" altLang="ko-KR" sz="2000" b="1" dirty="0"/>
              <a:t>(</a:t>
            </a:r>
            <a:r>
              <a:rPr lang="ko-KR" altLang="en-US" sz="2000" b="1" dirty="0"/>
              <a:t>리그 오브 레전드</a:t>
            </a:r>
            <a:r>
              <a:rPr lang="en-US" altLang="ko-KR" sz="2000" b="1" dirty="0"/>
              <a:t>)</a:t>
            </a:r>
            <a:r>
              <a:rPr lang="ko-KR" altLang="en-US" sz="2000" b="1" dirty="0"/>
              <a:t>은 다음과 같은 기술을 통해 일관된 판정 결과를 제공한다</a:t>
            </a:r>
            <a:r>
              <a:rPr lang="en-US" altLang="ko-KR" sz="2000" b="1" dirty="0"/>
              <a:t>.</a:t>
            </a:r>
            <a:endParaRPr lang="en-US" altLang="ko-KR" sz="1800" b="1" dirty="0"/>
          </a:p>
          <a:p>
            <a:pPr marL="914400" lvl="1" indent="-457200">
              <a:buAutoNum type="arabicPeriod"/>
            </a:pPr>
            <a:r>
              <a:rPr lang="ko-KR" altLang="en-US" sz="1800" b="1" dirty="0"/>
              <a:t>서버 권위적 체계 </a:t>
            </a:r>
            <a:r>
              <a:rPr lang="en-US" altLang="ko-KR" sz="1800" b="1" dirty="0"/>
              <a:t>-&gt; </a:t>
            </a:r>
            <a:r>
              <a:rPr lang="ko-KR" altLang="en-US" sz="1800" b="1" dirty="0" err="1"/>
              <a:t>언리얼</a:t>
            </a:r>
            <a:r>
              <a:rPr lang="ko-KR" altLang="en-US" sz="1800" b="1" dirty="0"/>
              <a:t> 엔진이 제공하는 서버 특징과 같다</a:t>
            </a:r>
            <a:r>
              <a:rPr lang="en-US" altLang="ko-KR" sz="1800" b="1" dirty="0"/>
              <a:t>.</a:t>
            </a:r>
          </a:p>
          <a:p>
            <a:pPr marL="914400" lvl="1" indent="-457200">
              <a:buAutoNum type="arabicPeriod"/>
            </a:pPr>
            <a:r>
              <a:rPr lang="ko-KR" altLang="en-US" sz="1800" b="1" dirty="0"/>
              <a:t>보간 기술</a:t>
            </a:r>
            <a:r>
              <a:rPr lang="en-US" altLang="ko-KR" sz="1800" b="1" dirty="0"/>
              <a:t>(</a:t>
            </a:r>
            <a:r>
              <a:rPr lang="ko-KR" altLang="en-US" sz="1800" b="1" dirty="0"/>
              <a:t>지수 </a:t>
            </a:r>
            <a:r>
              <a:rPr lang="ko-KR" altLang="en-US" sz="1800" b="1" dirty="0" err="1"/>
              <a:t>평활법</a:t>
            </a:r>
            <a:r>
              <a:rPr lang="en-US" altLang="ko-KR" sz="1800" b="1" dirty="0"/>
              <a:t>) -&gt; </a:t>
            </a:r>
            <a:r>
              <a:rPr lang="ko-KR" altLang="en-US" sz="1800" b="1" dirty="0"/>
              <a:t>직접 구현해야 할 부분</a:t>
            </a:r>
            <a:endParaRPr lang="en-US" altLang="ko-KR" sz="1800" b="1" dirty="0"/>
          </a:p>
          <a:p>
            <a:pPr marL="914400" lvl="1" indent="-457200">
              <a:buFont typeface="Arial" panose="020B0604020202020204" pitchFamily="34" charset="0"/>
              <a:buAutoNum type="arabicPeriod"/>
            </a:pPr>
            <a:r>
              <a:rPr lang="ko-KR" altLang="en-US" sz="1800" b="1" dirty="0"/>
              <a:t>물리적인 해결 방법 </a:t>
            </a:r>
            <a:r>
              <a:rPr lang="en-US" altLang="ko-KR" sz="1800" b="1" dirty="0"/>
              <a:t>-&gt; </a:t>
            </a:r>
            <a:r>
              <a:rPr lang="ko-KR" altLang="en-US" sz="1800" b="1" dirty="0"/>
              <a:t>소규모 팀</a:t>
            </a:r>
            <a:r>
              <a:rPr lang="en-US" altLang="ko-KR" sz="1800" b="1" dirty="0"/>
              <a:t> </a:t>
            </a:r>
            <a:r>
              <a:rPr lang="ko-KR" altLang="en-US" sz="1800" b="1" dirty="0"/>
              <a:t>입장에서는 효과적인 방법이 없음</a:t>
            </a:r>
            <a:r>
              <a:rPr lang="en-US" altLang="ko-KR" sz="1800" b="1" dirty="0"/>
              <a:t>.</a:t>
            </a:r>
            <a:endParaRPr lang="en-US" b="1" dirty="0"/>
          </a:p>
          <a:p>
            <a:r>
              <a:rPr lang="en-US" b="1" dirty="0"/>
              <a:t>Entity Interpolation</a:t>
            </a:r>
            <a:r>
              <a:rPr lang="ko-KR" altLang="en-US" b="1" dirty="0"/>
              <a:t>과 </a:t>
            </a:r>
            <a:r>
              <a:rPr lang="ko-KR" altLang="en-US" b="1" dirty="0" err="1"/>
              <a:t>데드</a:t>
            </a:r>
            <a:r>
              <a:rPr lang="ko-KR" altLang="en-US" b="1" dirty="0"/>
              <a:t> </a:t>
            </a:r>
            <a:r>
              <a:rPr lang="ko-KR" altLang="en-US" b="1" dirty="0" err="1"/>
              <a:t>레커닝</a:t>
            </a:r>
            <a:r>
              <a:rPr lang="ko-KR" altLang="en-US" b="1" dirty="0"/>
              <a:t> 기법 활용</a:t>
            </a:r>
            <a:endParaRPr lang="en-US" b="1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UI </a:t>
            </a:r>
            <a:r>
              <a:rPr b="1" dirty="0" err="1"/>
              <a:t>시스템</a:t>
            </a:r>
            <a:r>
              <a:rPr lang="en-US" b="1" dirty="0"/>
              <a:t>(</a:t>
            </a:r>
            <a:r>
              <a:rPr lang="ko-KR" altLang="en-US" b="1" dirty="0"/>
              <a:t>보완 필요</a:t>
            </a:r>
            <a:r>
              <a:rPr lang="en-US" b="1" dirty="0"/>
              <a:t>)</a:t>
            </a:r>
            <a:endParaRPr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 dirty="0" err="1"/>
              <a:t>스킬</a:t>
            </a:r>
            <a:r>
              <a:rPr b="1" dirty="0"/>
              <a:t> UI</a:t>
            </a:r>
          </a:p>
          <a:p>
            <a:r>
              <a:rPr b="1" dirty="0" err="1"/>
              <a:t>미니맵</a:t>
            </a:r>
            <a:r>
              <a:rPr b="1" dirty="0"/>
              <a:t> UI</a:t>
            </a:r>
          </a:p>
          <a:p>
            <a:r>
              <a:rPr b="1" dirty="0" err="1"/>
              <a:t>상점</a:t>
            </a:r>
            <a:r>
              <a:rPr b="1" dirty="0"/>
              <a:t> 및 </a:t>
            </a:r>
            <a:r>
              <a:rPr b="1" dirty="0" err="1"/>
              <a:t>인벤토리</a:t>
            </a:r>
            <a:r>
              <a:rPr b="1" dirty="0"/>
              <a:t> UI</a:t>
            </a:r>
            <a:endParaRPr lang="en-US" b="1" dirty="0"/>
          </a:p>
          <a:p>
            <a:r>
              <a:rPr lang="ko-KR" altLang="en-US" b="1" dirty="0"/>
              <a:t>설정 </a:t>
            </a:r>
            <a:r>
              <a:rPr lang="en-US" altLang="ko-KR" b="1" dirty="0"/>
              <a:t>UI</a:t>
            </a:r>
            <a:endParaRPr lang="en-US" b="1" dirty="0"/>
          </a:p>
          <a:p>
            <a:endParaRPr lang="en-US" b="1" dirty="0"/>
          </a:p>
          <a:p>
            <a:r>
              <a:rPr lang="en-US" altLang="ko-KR" b="1" dirty="0"/>
              <a:t>UMG </a:t>
            </a:r>
            <a:r>
              <a:rPr lang="ko-KR" altLang="en-US" b="1" dirty="0"/>
              <a:t>기반 </a:t>
            </a:r>
            <a:r>
              <a:rPr lang="en-US" altLang="ko-KR" b="1" dirty="0"/>
              <a:t>HUD </a:t>
            </a:r>
            <a:r>
              <a:rPr lang="ko-KR" altLang="en-US" b="1" dirty="0"/>
              <a:t>구현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4A09C68-F054-303F-CD1C-EA21884623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/>
              <a:t>개발 환경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F6E4F17-7D76-F9CF-A64F-29C511B866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b="1" dirty="0"/>
              <a:t>Unreal Engine 5.7</a:t>
            </a:r>
          </a:p>
          <a:p>
            <a:endParaRPr lang="en-US" altLang="ko-KR" b="1" dirty="0"/>
          </a:p>
          <a:p>
            <a:r>
              <a:rPr lang="en-US" altLang="ko-KR" b="1" dirty="0"/>
              <a:t>GitHub</a:t>
            </a:r>
          </a:p>
          <a:p>
            <a:pPr marL="0" indent="0">
              <a:buNone/>
            </a:pPr>
            <a:endParaRPr lang="en-US" altLang="ko-KR" b="1" dirty="0"/>
          </a:p>
          <a:p>
            <a:r>
              <a:rPr lang="en-US" altLang="ko-KR" b="1" dirty="0"/>
              <a:t>3ds max/ </a:t>
            </a:r>
            <a:r>
              <a:rPr lang="en-US" altLang="ko-KR" b="1" dirty="0" err="1"/>
              <a:t>Zbrush</a:t>
            </a:r>
            <a:r>
              <a:rPr lang="en-US" altLang="ko-KR" b="1" dirty="0"/>
              <a:t> / blender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7109146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DD2FBAE-EC3C-C76A-965C-3B5ADF965A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/>
              <a:t>개인별 준비 현황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86A4813-4A91-1D8E-7895-080DF4ECD1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ko-KR" altLang="en-US" sz="2000" b="1" dirty="0"/>
              <a:t>박지훈</a:t>
            </a:r>
            <a:endParaRPr lang="en-US" altLang="ko-KR" sz="2000" b="1" dirty="0"/>
          </a:p>
          <a:p>
            <a:pPr lvl="1"/>
            <a:r>
              <a:rPr lang="en-US" altLang="ko-KR" sz="1800" b="1" dirty="0"/>
              <a:t>C, C++ </a:t>
            </a:r>
            <a:r>
              <a:rPr lang="ko-KR" altLang="en-US" sz="1800" b="1" dirty="0"/>
              <a:t>프로그래밍</a:t>
            </a:r>
            <a:endParaRPr lang="en-US" altLang="ko-KR" sz="1800" b="1" dirty="0"/>
          </a:p>
          <a:p>
            <a:pPr lvl="1"/>
            <a:r>
              <a:rPr lang="ko-KR" altLang="en-US" sz="1800" b="1" dirty="0"/>
              <a:t>네트워크 게임프로그래밍</a:t>
            </a:r>
            <a:endParaRPr lang="en-US" altLang="ko-KR" sz="1800" b="1" dirty="0"/>
          </a:p>
          <a:p>
            <a:pPr lvl="1"/>
            <a:r>
              <a:rPr lang="ko-KR" altLang="en-US" sz="1800" b="1" dirty="0"/>
              <a:t>게임엔진 </a:t>
            </a:r>
            <a:r>
              <a:rPr lang="en-US" altLang="ko-KR" sz="1800" b="1" dirty="0"/>
              <a:t>1 (</a:t>
            </a:r>
            <a:r>
              <a:rPr lang="ko-KR" altLang="en-US" sz="1800" b="1" dirty="0" err="1"/>
              <a:t>공부중</a:t>
            </a:r>
            <a:r>
              <a:rPr lang="en-US" altLang="ko-KR" sz="1800" b="1" dirty="0"/>
              <a:t>)</a:t>
            </a:r>
          </a:p>
          <a:p>
            <a:r>
              <a:rPr lang="ko-KR" altLang="en-US" sz="2000" b="1" dirty="0"/>
              <a:t>임성훈</a:t>
            </a:r>
          </a:p>
          <a:p>
            <a:pPr lvl="1"/>
            <a:r>
              <a:rPr lang="en-US" altLang="ko-KR" sz="1800" b="1" dirty="0"/>
              <a:t>C, C++ </a:t>
            </a:r>
            <a:r>
              <a:rPr lang="ko-KR" altLang="en-US" sz="1800" b="1" dirty="0"/>
              <a:t>프로그래밍</a:t>
            </a:r>
            <a:endParaRPr lang="en-US" altLang="ko-KR" sz="1800" b="1" dirty="0"/>
          </a:p>
          <a:p>
            <a:pPr lvl="1"/>
            <a:r>
              <a:rPr lang="ko-KR" altLang="en-US" sz="1800" b="1" dirty="0"/>
              <a:t>네트워크 게임프로그래밍</a:t>
            </a:r>
            <a:endParaRPr lang="en-US" altLang="ko-KR" sz="1400" b="1" dirty="0"/>
          </a:p>
          <a:p>
            <a:pPr lvl="1"/>
            <a:r>
              <a:rPr lang="ko-KR" altLang="en-US" sz="1800" b="1" dirty="0"/>
              <a:t>게임엔진 </a:t>
            </a:r>
            <a:r>
              <a:rPr lang="en-US" altLang="ko-KR" sz="1800" b="1" dirty="0"/>
              <a:t>1(</a:t>
            </a:r>
            <a:r>
              <a:rPr lang="ko-KR" altLang="en-US" sz="1800" b="1" dirty="0" err="1"/>
              <a:t>언리얼</a:t>
            </a:r>
            <a:r>
              <a:rPr lang="ko-KR" altLang="en-US" sz="1800" b="1" dirty="0"/>
              <a:t> 엔진</a:t>
            </a:r>
            <a:r>
              <a:rPr lang="en-US" altLang="ko-KR" sz="1800" b="1" dirty="0"/>
              <a:t>)</a:t>
            </a:r>
          </a:p>
          <a:p>
            <a:pPr lvl="2"/>
            <a:r>
              <a:rPr lang="ko-KR" altLang="en-US" sz="1400" b="1" dirty="0" err="1"/>
              <a:t>블루프린트를</a:t>
            </a:r>
            <a:r>
              <a:rPr lang="ko-KR" altLang="en-US" sz="1400" b="1" dirty="0"/>
              <a:t> 활용해 단순한 게임 구현 가능</a:t>
            </a:r>
            <a:r>
              <a:rPr lang="en-US" altLang="ko-KR" sz="1400" b="1" dirty="0"/>
              <a:t>.</a:t>
            </a:r>
          </a:p>
          <a:p>
            <a:pPr lvl="1"/>
            <a:r>
              <a:rPr lang="ko-KR" altLang="en-US" sz="1800" b="1" dirty="0"/>
              <a:t>인공지능</a:t>
            </a:r>
            <a:endParaRPr lang="en-US" altLang="ko-KR" sz="1800" b="1" dirty="0"/>
          </a:p>
          <a:p>
            <a:r>
              <a:rPr lang="ko-KR" altLang="en-US" sz="2000" b="1" dirty="0" err="1"/>
              <a:t>한상현</a:t>
            </a:r>
            <a:endParaRPr lang="en-US" altLang="ko-KR" sz="2000" b="1" dirty="0"/>
          </a:p>
          <a:p>
            <a:pPr lvl="1"/>
            <a:r>
              <a:rPr lang="ko-KR" altLang="en-US" sz="1800" b="1" dirty="0"/>
              <a:t>모델링 </a:t>
            </a:r>
            <a:r>
              <a:rPr lang="en-US" altLang="ko-KR" sz="1800" b="1" dirty="0"/>
              <a:t>1,2/</a:t>
            </a:r>
            <a:r>
              <a:rPr lang="ko-KR" altLang="en-US" sz="1800" b="1" dirty="0"/>
              <a:t>애니메이션 </a:t>
            </a:r>
            <a:r>
              <a:rPr lang="en-US" altLang="ko-KR" sz="1800" b="1" dirty="0"/>
              <a:t>1,2 </a:t>
            </a:r>
            <a:r>
              <a:rPr lang="ko-KR" altLang="en-US" sz="1800" b="1" dirty="0"/>
              <a:t>수강 </a:t>
            </a:r>
            <a:endParaRPr lang="en-US" altLang="ko-KR" sz="1800" b="1" dirty="0"/>
          </a:p>
          <a:p>
            <a:pPr lvl="1"/>
            <a:r>
              <a:rPr lang="en-US" altLang="ko-KR" sz="1800" b="1" dirty="0" err="1"/>
              <a:t>coloso</a:t>
            </a:r>
            <a:r>
              <a:rPr lang="en-US" altLang="ko-KR" sz="1800" b="1" dirty="0"/>
              <a:t> </a:t>
            </a:r>
            <a:r>
              <a:rPr lang="ko-KR" altLang="en-US" sz="1800" b="1" dirty="0"/>
              <a:t>영상 강의 시청 </a:t>
            </a:r>
            <a:endParaRPr lang="en-US" altLang="ko-KR" sz="1800" b="1" dirty="0"/>
          </a:p>
          <a:p>
            <a:pPr lvl="1"/>
            <a:r>
              <a:rPr lang="en-US" altLang="ko-KR" sz="1800" b="1" dirty="0"/>
              <a:t>max </a:t>
            </a:r>
            <a:r>
              <a:rPr lang="ko-KR" altLang="en-US" sz="1800" b="1" dirty="0"/>
              <a:t>모델링 및 애니메이션 학원 등록 및 </a:t>
            </a:r>
            <a:r>
              <a:rPr lang="ko-KR" altLang="en-US" sz="1800" b="1" dirty="0" err="1"/>
              <a:t>수강중</a:t>
            </a:r>
            <a:r>
              <a:rPr lang="ko-KR" altLang="en-US" sz="1800" b="1" dirty="0"/>
              <a:t> </a:t>
            </a:r>
            <a:endParaRPr lang="en-US" altLang="ko-KR" sz="1800" b="1" dirty="0"/>
          </a:p>
          <a:p>
            <a:pPr lvl="1"/>
            <a:r>
              <a:rPr lang="ko-KR" altLang="en-US" sz="1800" b="1" dirty="0" err="1"/>
              <a:t>블랜더</a:t>
            </a:r>
            <a:r>
              <a:rPr lang="en-US" altLang="ko-KR" sz="1800" b="1" dirty="0"/>
              <a:t>,z brush </a:t>
            </a:r>
            <a:r>
              <a:rPr lang="ko-KR" altLang="en-US" sz="1800" b="1" dirty="0" err="1"/>
              <a:t>강의책및</a:t>
            </a:r>
            <a:r>
              <a:rPr lang="ko-KR" altLang="en-US" sz="1800" b="1" dirty="0"/>
              <a:t> 인강 등록</a:t>
            </a:r>
            <a:endParaRPr lang="en-US" altLang="ko-KR" sz="1800" b="1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8157085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9DD8176-0744-5221-D3A4-360F8F4011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/>
              <a:t>역할 분담 및 일정</a:t>
            </a:r>
            <a:r>
              <a:rPr lang="en-US" altLang="ko-KR" b="1" dirty="0"/>
              <a:t>(</a:t>
            </a:r>
            <a:r>
              <a:rPr lang="ko-KR" altLang="en-US" b="1" dirty="0"/>
              <a:t>보완</a:t>
            </a:r>
            <a:r>
              <a:rPr lang="en-US" altLang="ko-KR" b="1" dirty="0"/>
              <a:t>)</a:t>
            </a:r>
            <a:endParaRPr lang="ko-KR" altLang="en-US" b="1" dirty="0"/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766ABCC2-7E46-31F7-DACC-00F3854265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8320924"/>
              </p:ext>
            </p:extLst>
          </p:nvPr>
        </p:nvGraphicFramePr>
        <p:xfrm>
          <a:off x="10594110" y="115288"/>
          <a:ext cx="1523999" cy="14835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04254">
                  <a:extLst>
                    <a:ext uri="{9D8B030D-6E8A-4147-A177-3AD203B41FA5}">
                      <a16:colId xmlns:a16="http://schemas.microsoft.com/office/drawing/2014/main" val="4113358059"/>
                    </a:ext>
                  </a:extLst>
                </a:gridCol>
                <a:gridCol w="519745">
                  <a:extLst>
                    <a:ext uri="{9D8B030D-6E8A-4147-A177-3AD203B41FA5}">
                      <a16:colId xmlns:a16="http://schemas.microsoft.com/office/drawing/2014/main" val="1911139737"/>
                    </a:ext>
                  </a:extLst>
                </a:gridCol>
              </a:tblGrid>
              <a:tr h="29671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/>
                        <a:t>박지훈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1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8451658"/>
                  </a:ext>
                </a:extLst>
              </a:tr>
              <a:tr h="29671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/>
                        <a:t>임성훈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1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5588173"/>
                  </a:ext>
                </a:extLst>
              </a:tr>
              <a:tr h="29671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 err="1"/>
                        <a:t>한상현</a:t>
                      </a:r>
                      <a:endParaRPr lang="ko-KR" altLang="en-US" sz="1100" b="1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1" dirty="0">
                        <a:solidFill>
                          <a:srgbClr val="00B050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6214137"/>
                  </a:ext>
                </a:extLst>
              </a:tr>
              <a:tr h="29671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/>
                        <a:t>박지훈</a:t>
                      </a:r>
                      <a:r>
                        <a:rPr lang="en-US" altLang="ko-KR" sz="1100" b="1" dirty="0"/>
                        <a:t>, </a:t>
                      </a:r>
                      <a:r>
                        <a:rPr lang="ko-KR" altLang="en-US" sz="1100" b="1" dirty="0"/>
                        <a:t>임성훈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1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5260492"/>
                  </a:ext>
                </a:extLst>
              </a:tr>
              <a:tr h="29671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/>
                        <a:t>모두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1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2198550"/>
                  </a:ext>
                </a:extLst>
              </a:tr>
            </a:tbl>
          </a:graphicData>
        </a:graphic>
      </p:graphicFrame>
      <p:grpSp>
        <p:nvGrpSpPr>
          <p:cNvPr id="3" name="그룹 2">
            <a:extLst>
              <a:ext uri="{FF2B5EF4-FFF2-40B4-BE49-F238E27FC236}">
                <a16:creationId xmlns:a16="http://schemas.microsoft.com/office/drawing/2014/main" id="{9B75E4CC-DF94-9690-E34D-7267608C7A48}"/>
              </a:ext>
            </a:extLst>
          </p:cNvPr>
          <p:cNvGrpSpPr/>
          <p:nvPr/>
        </p:nvGrpSpPr>
        <p:grpSpPr>
          <a:xfrm>
            <a:off x="838200" y="2267361"/>
            <a:ext cx="10030762" cy="3349361"/>
            <a:chOff x="1059873" y="1756288"/>
            <a:chExt cx="10726549" cy="3349361"/>
          </a:xfrm>
        </p:grpSpPr>
        <p:graphicFrame>
          <p:nvGraphicFramePr>
            <p:cNvPr id="8" name="내용 개체 틀 3">
              <a:extLst>
                <a:ext uri="{FF2B5EF4-FFF2-40B4-BE49-F238E27FC236}">
                  <a16:creationId xmlns:a16="http://schemas.microsoft.com/office/drawing/2014/main" id="{7E05C772-C428-C384-90AD-33918E7E3DED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246399589"/>
                </p:ext>
              </p:extLst>
            </p:nvPr>
          </p:nvGraphicFramePr>
          <p:xfrm>
            <a:off x="1059873" y="1756288"/>
            <a:ext cx="10726549" cy="3349361"/>
          </p:xfrm>
          <a:graphic>
            <a:graphicData uri="http://schemas.openxmlformats.org/drawingml/2006/table">
              <a:tbl>
                <a:tblPr firstRow="1" bandRow="1">
                  <a:tableStyleId>{2D5ABB26-0587-4C30-8999-92F81FD0307C}</a:tableStyleId>
                </a:tblPr>
                <a:tblGrid>
                  <a:gridCol w="1235629">
                    <a:extLst>
                      <a:ext uri="{9D8B030D-6E8A-4147-A177-3AD203B41FA5}">
                        <a16:colId xmlns:a16="http://schemas.microsoft.com/office/drawing/2014/main" val="2572795937"/>
                      </a:ext>
                    </a:extLst>
                  </a:gridCol>
                  <a:gridCol w="1235629">
                    <a:extLst>
                      <a:ext uri="{9D8B030D-6E8A-4147-A177-3AD203B41FA5}">
                        <a16:colId xmlns:a16="http://schemas.microsoft.com/office/drawing/2014/main" val="3656594141"/>
                      </a:ext>
                    </a:extLst>
                  </a:gridCol>
                  <a:gridCol w="944938">
                    <a:extLst>
                      <a:ext uri="{9D8B030D-6E8A-4147-A177-3AD203B41FA5}">
                        <a16:colId xmlns:a16="http://schemas.microsoft.com/office/drawing/2014/main" val="3797650359"/>
                      </a:ext>
                    </a:extLst>
                  </a:gridCol>
                  <a:gridCol w="944938">
                    <a:extLst>
                      <a:ext uri="{9D8B030D-6E8A-4147-A177-3AD203B41FA5}">
                        <a16:colId xmlns:a16="http://schemas.microsoft.com/office/drawing/2014/main" val="1777897402"/>
                      </a:ext>
                    </a:extLst>
                  </a:gridCol>
                  <a:gridCol w="944938">
                    <a:extLst>
                      <a:ext uri="{9D8B030D-6E8A-4147-A177-3AD203B41FA5}">
                        <a16:colId xmlns:a16="http://schemas.microsoft.com/office/drawing/2014/main" val="3039769624"/>
                      </a:ext>
                    </a:extLst>
                  </a:gridCol>
                  <a:gridCol w="944938">
                    <a:extLst>
                      <a:ext uri="{9D8B030D-6E8A-4147-A177-3AD203B41FA5}">
                        <a16:colId xmlns:a16="http://schemas.microsoft.com/office/drawing/2014/main" val="890644557"/>
                      </a:ext>
                    </a:extLst>
                  </a:gridCol>
                  <a:gridCol w="944938">
                    <a:extLst>
                      <a:ext uri="{9D8B030D-6E8A-4147-A177-3AD203B41FA5}">
                        <a16:colId xmlns:a16="http://schemas.microsoft.com/office/drawing/2014/main" val="4030749169"/>
                      </a:ext>
                    </a:extLst>
                  </a:gridCol>
                  <a:gridCol w="944938">
                    <a:extLst>
                      <a:ext uri="{9D8B030D-6E8A-4147-A177-3AD203B41FA5}">
                        <a16:colId xmlns:a16="http://schemas.microsoft.com/office/drawing/2014/main" val="1175662719"/>
                      </a:ext>
                    </a:extLst>
                  </a:gridCol>
                  <a:gridCol w="944938">
                    <a:extLst>
                      <a:ext uri="{9D8B030D-6E8A-4147-A177-3AD203B41FA5}">
                        <a16:colId xmlns:a16="http://schemas.microsoft.com/office/drawing/2014/main" val="3334994118"/>
                      </a:ext>
                    </a:extLst>
                  </a:gridCol>
                  <a:gridCol w="944938">
                    <a:extLst>
                      <a:ext uri="{9D8B030D-6E8A-4147-A177-3AD203B41FA5}">
                        <a16:colId xmlns:a16="http://schemas.microsoft.com/office/drawing/2014/main" val="1063128577"/>
                      </a:ext>
                    </a:extLst>
                  </a:gridCol>
                </a:tblGrid>
                <a:tr h="0">
                  <a:tc gridSpan="2">
                    <a:txBody>
                      <a:bodyPr/>
                      <a:lstStyle/>
                      <a:p>
                        <a:pPr algn="r" latinLnBrk="1"/>
                        <a:r>
                          <a:rPr lang="ko-KR" altLang="en-US" sz="900" b="1" dirty="0"/>
                          <a:t>월</a:t>
                        </a:r>
                        <a:endParaRPr lang="en-US" altLang="ko-KR" sz="900" b="1" dirty="0"/>
                      </a:p>
                      <a:p>
                        <a:pPr algn="l" latinLnBrk="1"/>
                        <a:r>
                          <a:rPr lang="ko-KR" altLang="en-US" sz="900" b="1" dirty="0"/>
                          <a:t>항목</a:t>
                        </a:r>
                      </a:p>
                    </a:txBody>
                    <a:tcPr marL="0" marR="0" marT="0" marB="0"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noFill/>
                    </a:tcPr>
                  </a:tc>
                  <a:tc hMerge="1">
                    <a:txBody>
                      <a:bodyPr/>
                      <a:lstStyle/>
                      <a:p>
                        <a:pPr latinLnBrk="1"/>
                        <a:endParaRPr lang="ko-KR" altLang="en-US"/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algn="ctr" latinLnBrk="1"/>
                        <a:r>
                          <a:rPr lang="en-US" altLang="ko-KR" sz="1100" b="1" dirty="0"/>
                          <a:t>1</a:t>
                        </a:r>
                        <a:r>
                          <a:rPr lang="ko-KR" altLang="en-US" sz="1100" b="1" dirty="0"/>
                          <a:t>월</a:t>
                        </a:r>
                      </a:p>
                    </a:txBody>
                    <a:tcPr marL="0" marR="0" marT="0" marB="0"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r>
                          <a:rPr lang="en-US" altLang="ko-KR" sz="1100" b="1" dirty="0"/>
                          <a:t>2</a:t>
                        </a:r>
                        <a:r>
                          <a:rPr lang="ko-KR" altLang="en-US" sz="1100" b="1" dirty="0"/>
                          <a:t>월</a:t>
                        </a:r>
                      </a:p>
                    </a:txBody>
                    <a:tcPr marL="0" marR="0" marT="0" marB="0"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r>
                          <a:rPr lang="en-US" altLang="ko-KR" sz="1100" b="1" dirty="0"/>
                          <a:t>3</a:t>
                        </a:r>
                        <a:r>
                          <a:rPr lang="ko-KR" altLang="en-US" sz="1100" b="1" dirty="0"/>
                          <a:t>월</a:t>
                        </a:r>
                      </a:p>
                    </a:txBody>
                    <a:tcPr marL="0" marR="0" marT="0" marB="0"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r>
                          <a:rPr lang="en-US" altLang="ko-KR" sz="1100" b="1" dirty="0"/>
                          <a:t>4</a:t>
                        </a:r>
                        <a:r>
                          <a:rPr lang="ko-KR" altLang="en-US" sz="1100" b="1" dirty="0"/>
                          <a:t>월</a:t>
                        </a:r>
                      </a:p>
                    </a:txBody>
                    <a:tcPr marL="0" marR="0" marT="0" marB="0"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r>
                          <a:rPr lang="en-US" altLang="ko-KR" sz="1100" b="1" dirty="0"/>
                          <a:t>5</a:t>
                        </a:r>
                        <a:r>
                          <a:rPr lang="ko-KR" altLang="en-US" sz="1100" b="1" dirty="0"/>
                          <a:t>월</a:t>
                        </a:r>
                      </a:p>
                    </a:txBody>
                    <a:tcPr marL="0" marR="0" marT="0" marB="0"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r>
                          <a:rPr lang="en-US" altLang="ko-KR" sz="1100" b="1" dirty="0"/>
                          <a:t>6</a:t>
                        </a:r>
                        <a:r>
                          <a:rPr lang="ko-KR" altLang="en-US" sz="1100" b="1" dirty="0"/>
                          <a:t>월</a:t>
                        </a:r>
                      </a:p>
                    </a:txBody>
                    <a:tcPr marL="0" marR="0" marT="0" marB="0"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r>
                          <a:rPr lang="en-US" altLang="ko-KR" sz="1100" b="1" dirty="0"/>
                          <a:t>7</a:t>
                        </a:r>
                        <a:r>
                          <a:rPr lang="ko-KR" altLang="en-US" sz="1100" b="1" dirty="0"/>
                          <a:t>월</a:t>
                        </a:r>
                      </a:p>
                    </a:txBody>
                    <a:tcPr marL="0" marR="0" marT="0" marB="0"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r>
                          <a:rPr lang="en-US" altLang="ko-KR" sz="1100" b="1" dirty="0"/>
                          <a:t>8</a:t>
                        </a:r>
                        <a:r>
                          <a:rPr lang="ko-KR" altLang="en-US" sz="1100" b="1" dirty="0"/>
                          <a:t>월</a:t>
                        </a:r>
                      </a:p>
                    </a:txBody>
                    <a:tcPr marL="0" marR="0" marT="0" marB="0"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extLst>
                    <a:ext uri="{0D108BD9-81ED-4DB2-BD59-A6C34878D82A}">
                      <a16:rowId xmlns:a16="http://schemas.microsoft.com/office/drawing/2014/main" val="3176551967"/>
                    </a:ext>
                  </a:extLst>
                </a:tr>
                <a:tr h="185420">
                  <a:tc rowSpan="2">
                    <a:txBody>
                      <a:bodyPr/>
                      <a:lstStyle/>
                      <a:p>
                        <a:pPr algn="ctr" latinLnBrk="1"/>
                        <a:r>
                          <a:rPr lang="ko-KR" altLang="en-US" sz="1100" b="1" dirty="0"/>
                          <a:t>맵</a:t>
                        </a:r>
                        <a:r>
                          <a:rPr lang="en-US" altLang="ko-KR" sz="1100" b="1" dirty="0"/>
                          <a:t>/</a:t>
                        </a:r>
                        <a:r>
                          <a:rPr lang="ko-KR" altLang="en-US" sz="1100" b="1" dirty="0"/>
                          <a:t>카메라</a:t>
                        </a:r>
                      </a:p>
                    </a:txBody>
                    <a:tcPr marL="0" marR="0" marT="0" marB="0"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r>
                          <a:rPr lang="ko-KR" altLang="en-US" sz="900" b="1" dirty="0"/>
                          <a:t>맵 </a:t>
                        </a:r>
                        <a:r>
                          <a:rPr lang="ko-KR" altLang="en-US" sz="900" b="1" dirty="0" err="1"/>
                          <a:t>에셋</a:t>
                        </a:r>
                        <a:endParaRPr lang="ko-KR" altLang="en-US" sz="900" b="1" dirty="0"/>
                      </a:p>
                    </a:txBody>
                    <a:tcPr marL="0" marR="0" marT="0" marB="0"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endParaRPr lang="ko-KR" altLang="en-US" sz="1400" b="1" dirty="0"/>
                      </a:p>
                    </a:txBody>
                    <a:tcPr marL="0" marR="0" marT="0" marB="0"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00B050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endParaRPr lang="ko-KR" altLang="en-US" sz="1400" b="1" dirty="0"/>
                      </a:p>
                    </a:txBody>
                    <a:tcPr marL="0" marR="0" marT="0" marB="0"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00B050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endParaRPr lang="ko-KR" altLang="en-US" sz="1400" b="1" dirty="0"/>
                      </a:p>
                    </a:txBody>
                    <a:tcPr marL="0" marR="0" marT="0" marB="0"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endParaRPr lang="ko-KR" altLang="en-US" sz="1400" b="1" dirty="0"/>
                      </a:p>
                    </a:txBody>
                    <a:tcPr marL="0" marR="0" marT="0" marB="0"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endParaRPr lang="ko-KR" altLang="en-US" sz="1400" b="1" dirty="0"/>
                      </a:p>
                    </a:txBody>
                    <a:tcPr marL="0" marR="0" marT="0" marB="0"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endParaRPr lang="ko-KR" altLang="en-US" sz="1400" b="1" dirty="0"/>
                      </a:p>
                    </a:txBody>
                    <a:tcPr marL="0" marR="0" marT="0" marB="0"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endParaRPr lang="ko-KR" altLang="en-US" sz="1400" b="1" dirty="0"/>
                      </a:p>
                    </a:txBody>
                    <a:tcPr marL="0" marR="0" marT="0" marB="0"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endParaRPr lang="ko-KR" altLang="en-US" sz="1400" b="1" dirty="0"/>
                      </a:p>
                    </a:txBody>
                    <a:tcPr marL="0" marR="0" marT="0" marB="0"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extLst>
                    <a:ext uri="{0D108BD9-81ED-4DB2-BD59-A6C34878D82A}">
                      <a16:rowId xmlns:a16="http://schemas.microsoft.com/office/drawing/2014/main" val="3241429223"/>
                    </a:ext>
                  </a:extLst>
                </a:tr>
                <a:tr h="185420">
                  <a:tc vMerge="1">
                    <a:txBody>
                      <a:bodyPr/>
                      <a:lstStyle/>
                      <a:p>
                        <a:pPr latinLnBrk="1"/>
                        <a:endParaRPr lang="ko-KR" altLang="en-US"/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algn="ctr" latinLnBrk="1"/>
                        <a:r>
                          <a:rPr lang="ko-KR" altLang="en-US" sz="900" b="1" dirty="0"/>
                          <a:t>레벨 구성 </a:t>
                        </a:r>
                      </a:p>
                    </a:txBody>
                    <a:tcPr marL="0" marR="0" marT="0" marB="0"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endParaRPr lang="ko-KR" altLang="en-US" sz="1400" b="1" dirty="0"/>
                      </a:p>
                    </a:txBody>
                    <a:tcPr marL="0" marR="0" marT="0" marB="0"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endParaRPr lang="ko-KR" altLang="en-US" sz="1400" b="1" dirty="0"/>
                      </a:p>
                    </a:txBody>
                    <a:tcPr marL="0" marR="0" marT="0" marB="0"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C00000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endParaRPr lang="ko-KR" altLang="en-US" sz="1400" b="1" dirty="0"/>
                      </a:p>
                    </a:txBody>
                    <a:tcPr marL="0" marR="0" marT="0" marB="0"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C00000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endParaRPr lang="ko-KR" altLang="en-US" sz="1400" b="1" dirty="0"/>
                      </a:p>
                    </a:txBody>
                    <a:tcPr marL="0" marR="0" marT="0" marB="0"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endParaRPr lang="ko-KR" altLang="en-US" sz="1400" b="1" dirty="0"/>
                      </a:p>
                    </a:txBody>
                    <a:tcPr marL="0" marR="0" marT="0" marB="0"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endParaRPr lang="ko-KR" altLang="en-US" sz="1400" b="1" dirty="0"/>
                      </a:p>
                    </a:txBody>
                    <a:tcPr marL="0" marR="0" marT="0" marB="0"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endParaRPr lang="ko-KR" altLang="en-US" sz="1400" b="1" dirty="0"/>
                      </a:p>
                    </a:txBody>
                    <a:tcPr marL="0" marR="0" marT="0" marB="0"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endParaRPr lang="ko-KR" altLang="en-US" sz="1400" b="1" dirty="0"/>
                      </a:p>
                    </a:txBody>
                    <a:tcPr marL="0" marR="0" marT="0" marB="0"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extLst>
                    <a:ext uri="{0D108BD9-81ED-4DB2-BD59-A6C34878D82A}">
                      <a16:rowId xmlns:a16="http://schemas.microsoft.com/office/drawing/2014/main" val="2708159027"/>
                    </a:ext>
                  </a:extLst>
                </a:tr>
                <a:tr h="167640">
                  <a:tc rowSpan="3">
                    <a:txBody>
                      <a:bodyPr/>
                      <a:lstStyle/>
                      <a:p>
                        <a:pPr algn="ctr" latinLnBrk="1"/>
                        <a:r>
                          <a:rPr lang="ko-KR" altLang="en-US" sz="1100" b="1" dirty="0"/>
                          <a:t>서버</a:t>
                        </a:r>
                      </a:p>
                    </a:txBody>
                    <a:tcPr marL="0" marR="0" marT="0" marB="0"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r>
                          <a:rPr lang="ko-KR" altLang="en-US" sz="900" b="1" dirty="0"/>
                          <a:t>서버 구축</a:t>
                        </a:r>
                      </a:p>
                    </a:txBody>
                    <a:tcPr marL="0" marR="0" marT="0" marB="0"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endParaRPr lang="ko-KR" altLang="en-US" sz="1400" b="1" dirty="0">
                          <a:solidFill>
                            <a:srgbClr val="0070C0"/>
                          </a:solidFill>
                        </a:endParaRPr>
                      </a:p>
                    </a:txBody>
                    <a:tcPr marL="0" marR="0" marT="0" marB="0"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0070C0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endParaRPr lang="ko-KR" altLang="en-US" sz="1400" b="1" dirty="0"/>
                      </a:p>
                    </a:txBody>
                    <a:tcPr marL="0" marR="0" marT="0" marB="0"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0070C0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endParaRPr lang="ko-KR" altLang="en-US" sz="1400" b="1" dirty="0"/>
                      </a:p>
                    </a:txBody>
                    <a:tcPr marL="0" marR="0" marT="0" marB="0"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endParaRPr lang="ko-KR" altLang="en-US" sz="1400" b="1" dirty="0">
                          <a:solidFill>
                            <a:schemeClr val="bg1"/>
                          </a:solidFill>
                        </a:endParaRPr>
                      </a:p>
                    </a:txBody>
                    <a:tcPr marL="0" marR="0" marT="0" marB="0"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endParaRPr lang="ko-KR" altLang="en-US" sz="1400" b="1" dirty="0"/>
                      </a:p>
                    </a:txBody>
                    <a:tcPr marL="0" marR="0" marT="0" marB="0"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endParaRPr lang="ko-KR" altLang="en-US" sz="1400" b="1" dirty="0">
                          <a:solidFill>
                            <a:schemeClr val="bg1"/>
                          </a:solidFill>
                        </a:endParaRPr>
                      </a:p>
                    </a:txBody>
                    <a:tcPr marL="0" marR="0" marT="0" marB="0"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endParaRPr lang="ko-KR" altLang="en-US" sz="1400" b="1" dirty="0"/>
                      </a:p>
                    </a:txBody>
                    <a:tcPr marL="0" marR="0" marT="0" marB="0"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endParaRPr lang="ko-KR" altLang="en-US" sz="1400" b="1" dirty="0"/>
                      </a:p>
                    </a:txBody>
                    <a:tcPr marL="0" marR="0" marT="0" marB="0"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extLst>
                    <a:ext uri="{0D108BD9-81ED-4DB2-BD59-A6C34878D82A}">
                      <a16:rowId xmlns:a16="http://schemas.microsoft.com/office/drawing/2014/main" val="500251813"/>
                    </a:ext>
                  </a:extLst>
                </a:tr>
                <a:tr h="167640">
                  <a:tc vMerge="1">
                    <a:txBody>
                      <a:bodyPr/>
                      <a:lstStyle/>
                      <a:p>
                        <a:pPr algn="ctr" latinLnBrk="1"/>
                        <a:endParaRPr lang="ko-KR" altLang="en-US" sz="1100" b="1" dirty="0"/>
                      </a:p>
                    </a:txBody>
                    <a:tcPr marL="0" marR="0" marT="0" marB="0"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r>
                          <a:rPr lang="ko-KR" altLang="en-US" sz="900" b="1" dirty="0"/>
                          <a:t> 동기화</a:t>
                        </a:r>
                      </a:p>
                    </a:txBody>
                    <a:tcPr marL="0" marR="0" marT="0" marB="0"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endParaRPr lang="ko-KR" altLang="en-US" sz="1400" b="1" dirty="0"/>
                      </a:p>
                    </a:txBody>
                    <a:tcPr marL="0" marR="0" marT="0" marB="0"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endParaRPr lang="ko-KR" altLang="en-US" sz="1400" b="1" dirty="0"/>
                      </a:p>
                    </a:txBody>
                    <a:tcPr marL="0" marR="0" marT="0" marB="0"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0070C0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endParaRPr lang="ko-KR" altLang="en-US" sz="1400" b="1" dirty="0"/>
                      </a:p>
                    </a:txBody>
                    <a:tcPr marL="0" marR="0" marT="0" marB="0"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0070C0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endParaRPr lang="ko-KR" altLang="en-US" sz="1400" b="1" dirty="0">
                          <a:solidFill>
                            <a:schemeClr val="bg1"/>
                          </a:solidFill>
                        </a:endParaRPr>
                      </a:p>
                    </a:txBody>
                    <a:tcPr marL="0" marR="0" marT="0" marB="0"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0070C0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endParaRPr lang="ko-KR" altLang="en-US" sz="1400" b="1" dirty="0"/>
                      </a:p>
                    </a:txBody>
                    <a:tcPr marL="0" marR="0" marT="0" marB="0"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endParaRPr lang="ko-KR" altLang="en-US" sz="1400" b="1" dirty="0">
                          <a:solidFill>
                            <a:schemeClr val="bg1"/>
                          </a:solidFill>
                        </a:endParaRPr>
                      </a:p>
                    </a:txBody>
                    <a:tcPr marL="0" marR="0" marT="0" marB="0"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endParaRPr lang="ko-KR" altLang="en-US" sz="1400" b="1" dirty="0"/>
                      </a:p>
                    </a:txBody>
                    <a:tcPr marL="0" marR="0" marT="0" marB="0"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endParaRPr lang="ko-KR" altLang="en-US" sz="1400" b="1" dirty="0"/>
                      </a:p>
                    </a:txBody>
                    <a:tcPr marL="0" marR="0" marT="0" marB="0"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extLst>
                    <a:ext uri="{0D108BD9-81ED-4DB2-BD59-A6C34878D82A}">
                      <a16:rowId xmlns:a16="http://schemas.microsoft.com/office/drawing/2014/main" val="1454127336"/>
                    </a:ext>
                  </a:extLst>
                </a:tr>
                <a:tr h="167640">
                  <a:tc vMerge="1">
                    <a:txBody>
                      <a:bodyPr/>
                      <a:lstStyle/>
                      <a:p>
                        <a:pPr algn="ctr" latinLnBrk="1"/>
                        <a:endParaRPr lang="ko-KR" altLang="en-US" sz="1100" b="1" dirty="0"/>
                      </a:p>
                    </a:txBody>
                    <a:tcPr marL="0" marR="0" marT="0" marB="0"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r>
                          <a:rPr lang="ko-KR" altLang="en-US" sz="900" b="1" dirty="0"/>
                          <a:t>로비 시스템</a:t>
                        </a:r>
                      </a:p>
                    </a:txBody>
                    <a:tcPr marL="0" marR="0" marT="0" marB="0"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endParaRPr lang="ko-KR" altLang="en-US" sz="1400" b="1" dirty="0"/>
                      </a:p>
                    </a:txBody>
                    <a:tcPr marL="0" marR="0" marT="0" marB="0"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endParaRPr lang="ko-KR" altLang="en-US" sz="1400" b="1" dirty="0"/>
                      </a:p>
                    </a:txBody>
                    <a:tcPr marL="0" marR="0" marT="0" marB="0"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endParaRPr lang="ko-KR" altLang="en-US" sz="1400" b="1" dirty="0"/>
                      </a:p>
                    </a:txBody>
                    <a:tcPr marL="0" marR="0" marT="0" marB="0"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endParaRPr lang="ko-KR" altLang="en-US" sz="1400" b="1" dirty="0">
                          <a:solidFill>
                            <a:schemeClr val="bg1"/>
                          </a:solidFill>
                        </a:endParaRPr>
                      </a:p>
                    </a:txBody>
                    <a:tcPr marL="0" marR="0" marT="0" marB="0"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endParaRPr lang="ko-KR" altLang="en-US" sz="1400" b="1" dirty="0"/>
                      </a:p>
                    </a:txBody>
                    <a:tcPr marL="0" marR="0" marT="0" marB="0"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endParaRPr lang="ko-KR" altLang="en-US" sz="1400" b="1" dirty="0">
                          <a:solidFill>
                            <a:schemeClr val="bg1"/>
                          </a:solidFill>
                        </a:endParaRPr>
                      </a:p>
                    </a:txBody>
                    <a:tcPr marL="0" marR="0" marT="0" marB="0"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0070C0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endParaRPr lang="ko-KR" altLang="en-US" sz="1400" b="1" dirty="0"/>
                      </a:p>
                    </a:txBody>
                    <a:tcPr marL="0" marR="0" marT="0" marB="0"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0070C0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endParaRPr lang="ko-KR" altLang="en-US" sz="1400" b="1" dirty="0"/>
                      </a:p>
                    </a:txBody>
                    <a:tcPr marL="0" marR="0" marT="0" marB="0"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357828531"/>
                    </a:ext>
                  </a:extLst>
                </a:tr>
                <a:tr h="123613">
                  <a:tc rowSpan="2">
                    <a:txBody>
                      <a:bodyPr/>
                      <a:lstStyle/>
                      <a:p>
                        <a:pPr algn="ctr" latinLnBrk="1"/>
                        <a:r>
                          <a:rPr lang="ko-KR" altLang="en-US" sz="1100" b="1" dirty="0"/>
                          <a:t>캐릭터</a:t>
                        </a:r>
                      </a:p>
                    </a:txBody>
                    <a:tcPr marL="0" marR="0" marT="0" marB="0"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r>
                          <a:rPr lang="ko-KR" altLang="en-US" sz="900" b="1" dirty="0"/>
                          <a:t>캐릭터 </a:t>
                        </a:r>
                        <a:r>
                          <a:rPr lang="ko-KR" altLang="en-US" sz="900" b="1" dirty="0" err="1"/>
                          <a:t>에셋</a:t>
                        </a:r>
                        <a:endParaRPr lang="ko-KR" altLang="en-US" sz="900" b="1" dirty="0"/>
                      </a:p>
                    </a:txBody>
                    <a:tcPr marL="0" marR="0" marT="0" marB="0"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endParaRPr lang="ko-KR" altLang="en-US" sz="1400" b="1" dirty="0">
                          <a:solidFill>
                            <a:srgbClr val="FF0000"/>
                          </a:solidFill>
                        </a:endParaRPr>
                      </a:p>
                    </a:txBody>
                    <a:tcPr marL="0" marR="0" marT="0" marB="0"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endParaRPr lang="ko-KR" altLang="en-US" sz="1400" b="1" dirty="0">
                          <a:solidFill>
                            <a:srgbClr val="00B050"/>
                          </a:solidFill>
                        </a:endParaRPr>
                      </a:p>
                    </a:txBody>
                    <a:tcPr marL="0" marR="0" marT="0" marB="0"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00B050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endParaRPr lang="ko-KR" altLang="en-US" sz="1400" b="1" dirty="0">
                          <a:solidFill>
                            <a:srgbClr val="00B050"/>
                          </a:solidFill>
                        </a:endParaRPr>
                      </a:p>
                    </a:txBody>
                    <a:tcPr marL="0" marR="0" marT="0" marB="0"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00B050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endParaRPr lang="ko-KR" altLang="en-US" sz="1400" b="1" dirty="0">
                          <a:solidFill>
                            <a:srgbClr val="00B050"/>
                          </a:solidFill>
                        </a:endParaRPr>
                      </a:p>
                    </a:txBody>
                    <a:tcPr marL="0" marR="0" marT="0" marB="0"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00B050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endParaRPr lang="ko-KR" altLang="en-US" sz="1400" b="1" dirty="0">
                          <a:solidFill>
                            <a:srgbClr val="00B050"/>
                          </a:solidFill>
                        </a:endParaRPr>
                      </a:p>
                    </a:txBody>
                    <a:tcPr marL="0" marR="0" marT="0" marB="0"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00B050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endParaRPr lang="ko-KR" altLang="en-US" sz="1400" b="1" dirty="0"/>
                      </a:p>
                    </a:txBody>
                    <a:tcPr marL="0" marR="0" marT="0" marB="0"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endParaRPr lang="ko-KR" altLang="en-US" sz="1400" b="1" dirty="0"/>
                      </a:p>
                    </a:txBody>
                    <a:tcPr marL="0" marR="0" marT="0" marB="0"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endParaRPr lang="ko-KR" altLang="en-US" sz="1400" b="1" dirty="0"/>
                      </a:p>
                    </a:txBody>
                    <a:tcPr marL="0" marR="0" marT="0" marB="0"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extLst>
                    <a:ext uri="{0D108BD9-81ED-4DB2-BD59-A6C34878D82A}">
                      <a16:rowId xmlns:a16="http://schemas.microsoft.com/office/drawing/2014/main" val="2823728999"/>
                    </a:ext>
                  </a:extLst>
                </a:tr>
                <a:tr h="242147">
                  <a:tc vMerge="1">
                    <a:txBody>
                      <a:bodyPr/>
                      <a:lstStyle/>
                      <a:p>
                        <a:pPr latinLnBrk="1"/>
                        <a:endParaRPr lang="ko-KR" altLang="en-US"/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algn="ctr" latinLnBrk="1"/>
                        <a:r>
                          <a:rPr lang="ko-KR" altLang="en-US" sz="900" b="1" dirty="0"/>
                          <a:t>캐릭터 구현</a:t>
                        </a:r>
                      </a:p>
                    </a:txBody>
                    <a:tcPr marL="0" marR="0" marT="0" marB="0"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endParaRPr lang="ko-KR" altLang="en-US" sz="1400" b="1" dirty="0">
                          <a:solidFill>
                            <a:srgbClr val="FF0000"/>
                          </a:solidFill>
                        </a:endParaRPr>
                      </a:p>
                    </a:txBody>
                    <a:tcPr marL="0" marR="0" marT="0" marB="0"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C00000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endParaRPr lang="ko-KR" altLang="en-US" sz="1400" b="1" dirty="0">
                          <a:solidFill>
                            <a:srgbClr val="FF0000"/>
                          </a:solidFill>
                        </a:endParaRPr>
                      </a:p>
                    </a:txBody>
                    <a:tcPr marL="0" marR="0" marT="0" marB="0"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C00000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endParaRPr lang="ko-KR" altLang="en-US" sz="1400" b="1" dirty="0">
                          <a:solidFill>
                            <a:srgbClr val="FF0000"/>
                          </a:solidFill>
                        </a:endParaRPr>
                      </a:p>
                    </a:txBody>
                    <a:tcPr marL="0" marR="0" marT="0" marB="0"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C00000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endParaRPr lang="ko-KR" altLang="en-US" sz="1400" b="1" dirty="0"/>
                      </a:p>
                    </a:txBody>
                    <a:tcPr marL="0" marR="0" marT="0" marB="0"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C00000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endParaRPr lang="ko-KR" altLang="en-US" sz="1400" b="1" dirty="0"/>
                      </a:p>
                    </a:txBody>
                    <a:tcPr marL="0" marR="0" marT="0" marB="0"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C00000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endParaRPr lang="ko-KR" altLang="en-US" sz="1400" b="1" dirty="0"/>
                      </a:p>
                    </a:txBody>
                    <a:tcPr marL="0" marR="0" marT="0" marB="0"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endParaRPr lang="ko-KR" altLang="en-US" sz="1400" b="1" dirty="0"/>
                      </a:p>
                    </a:txBody>
                    <a:tcPr marL="0" marR="0" marT="0" marB="0"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endParaRPr lang="ko-KR" altLang="en-US" sz="1400" b="1" dirty="0"/>
                      </a:p>
                    </a:txBody>
                    <a:tcPr marL="0" marR="0" marT="0" marB="0"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extLst>
                    <a:ext uri="{0D108BD9-81ED-4DB2-BD59-A6C34878D82A}">
                      <a16:rowId xmlns:a16="http://schemas.microsoft.com/office/drawing/2014/main" val="2578851159"/>
                    </a:ext>
                  </a:extLst>
                </a:tr>
                <a:tr h="233098">
                  <a:tc rowSpan="3">
                    <a:txBody>
                      <a:bodyPr/>
                      <a:lstStyle/>
                      <a:p>
                        <a:pPr marL="0" marR="0" lvl="0" indent="0" algn="ctr" defTabSz="914400" rtl="0" eaLnBrk="1" fontAlgn="auto" latinLnBrk="1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lang="en-US" altLang="ko-KR" sz="1200" b="1" dirty="0"/>
                          <a:t>NPC</a:t>
                        </a:r>
                      </a:p>
                      <a:p>
                        <a:pPr marL="0" marR="0" lvl="0" indent="0" algn="ctr" defTabSz="914400" rtl="0" eaLnBrk="1" fontAlgn="auto" latinLnBrk="1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lang="en-US" altLang="ko-KR" sz="900" b="1" dirty="0"/>
                          <a:t>(</a:t>
                        </a:r>
                        <a:r>
                          <a:rPr lang="ko-KR" altLang="en-US" sz="800" b="1" dirty="0" err="1"/>
                          <a:t>미니언</a:t>
                        </a:r>
                        <a:r>
                          <a:rPr lang="en-US" altLang="ko-KR" sz="800" b="1" dirty="0"/>
                          <a:t>/</a:t>
                        </a:r>
                        <a:r>
                          <a:rPr lang="ko-KR" altLang="en-US" sz="800" b="1" dirty="0"/>
                          <a:t>건물</a:t>
                        </a:r>
                        <a:r>
                          <a:rPr lang="en-US" altLang="ko-KR" sz="800" b="1" dirty="0"/>
                          <a:t>/</a:t>
                        </a:r>
                        <a:r>
                          <a:rPr lang="ko-KR" altLang="en-US" sz="800" b="1" dirty="0"/>
                          <a:t>정글 몬스터</a:t>
                        </a:r>
                        <a:r>
                          <a:rPr lang="en-US" altLang="ko-KR" sz="800" b="1" dirty="0"/>
                          <a:t>)</a:t>
                        </a:r>
                        <a:endParaRPr lang="ko-KR" altLang="en-US" sz="1100" b="1" dirty="0"/>
                      </a:p>
                    </a:txBody>
                    <a:tcPr marL="0" marR="0" marT="0" marB="0"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ctr" defTabSz="914400" rtl="0" eaLnBrk="1" fontAlgn="auto" latinLnBrk="1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lang="en-US" altLang="ko-KR" sz="900" b="1" dirty="0"/>
                          <a:t>NPC</a:t>
                        </a:r>
                        <a:r>
                          <a:rPr lang="ko-KR" altLang="en-US" sz="900" b="1" dirty="0"/>
                          <a:t> </a:t>
                        </a:r>
                        <a:r>
                          <a:rPr lang="ko-KR" altLang="en-US" sz="900" b="1" dirty="0" err="1"/>
                          <a:t>에셋</a:t>
                        </a:r>
                        <a:endParaRPr lang="ko-KR" altLang="en-US" sz="900" b="1" dirty="0"/>
                      </a:p>
                    </a:txBody>
                    <a:tcPr marL="0" marR="0" marT="0" marB="0"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endParaRPr lang="ko-KR" altLang="en-US" sz="1400" b="1" dirty="0"/>
                      </a:p>
                    </a:txBody>
                    <a:tcPr marL="0" marR="0" marT="0" marB="0"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endParaRPr lang="ko-KR" altLang="en-US" sz="1400" b="1" dirty="0"/>
                      </a:p>
                    </a:txBody>
                    <a:tcPr marL="0" marR="0" marT="0" marB="0"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endParaRPr lang="ko-KR" altLang="en-US" sz="1400" b="1" dirty="0"/>
                      </a:p>
                    </a:txBody>
                    <a:tcPr marL="0" marR="0" marT="0" marB="0"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endParaRPr lang="ko-KR" altLang="en-US" sz="1400" b="1" dirty="0"/>
                      </a:p>
                    </a:txBody>
                    <a:tcPr marL="0" marR="0" marT="0" marB="0"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endParaRPr lang="ko-KR" altLang="en-US" sz="1400" b="1" dirty="0">
                          <a:solidFill>
                            <a:srgbClr val="C00000"/>
                          </a:solidFill>
                        </a:endParaRPr>
                      </a:p>
                    </a:txBody>
                    <a:tcPr marL="0" marR="0" marT="0" marB="0"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endParaRPr lang="ko-KR" altLang="en-US" sz="1400" b="1" dirty="0">
                          <a:solidFill>
                            <a:srgbClr val="C00000"/>
                          </a:solidFill>
                        </a:endParaRPr>
                      </a:p>
                    </a:txBody>
                    <a:tcPr marL="0" marR="0" marT="0" marB="0"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00B050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endParaRPr lang="ko-KR" altLang="en-US" sz="1400" b="1" dirty="0"/>
                      </a:p>
                    </a:txBody>
                    <a:tcPr marL="0" marR="0" marT="0" marB="0"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00B050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endParaRPr lang="ko-KR" altLang="en-US" sz="1400" b="1" dirty="0"/>
                      </a:p>
                    </a:txBody>
                    <a:tcPr marL="0" marR="0" marT="0" marB="0"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3474485167"/>
                    </a:ext>
                  </a:extLst>
                </a:tr>
                <a:tr h="233098">
                  <a:tc vMerge="1">
                    <a:txBody>
                      <a:bodyPr/>
                      <a:lstStyle/>
                      <a:p>
                        <a:pPr latinLnBrk="1"/>
                        <a:endParaRPr lang="ko-KR" altLang="en-US"/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marL="0" marR="0" lvl="0" indent="0" algn="ctr" defTabSz="914400" rtl="0" eaLnBrk="1" fontAlgn="auto" latinLnBrk="1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lang="en-US" altLang="ko-KR" sz="900" b="1" dirty="0"/>
                          <a:t>NPC AI</a:t>
                        </a:r>
                        <a:endParaRPr lang="ko-KR" altLang="en-US" sz="900" b="1" dirty="0"/>
                      </a:p>
                    </a:txBody>
                    <a:tcPr marL="0" marR="0" marT="0" marB="0"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endParaRPr lang="ko-KR" altLang="en-US" sz="1400" b="1" dirty="0"/>
                      </a:p>
                    </a:txBody>
                    <a:tcPr marL="0" marR="0" marT="0" marB="0"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endParaRPr lang="ko-KR" altLang="en-US" sz="1400" b="1" dirty="0"/>
                      </a:p>
                    </a:txBody>
                    <a:tcPr marL="0" marR="0" marT="0" marB="0"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endParaRPr lang="ko-KR" altLang="en-US" sz="1400" b="1" dirty="0"/>
                      </a:p>
                    </a:txBody>
                    <a:tcPr marL="0" marR="0" marT="0" marB="0"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endParaRPr lang="ko-KR" altLang="en-US" sz="1400" b="1" dirty="0"/>
                      </a:p>
                    </a:txBody>
                    <a:tcPr marL="0" marR="0" marT="0" marB="0"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0070C0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endParaRPr lang="ko-KR" altLang="en-US" sz="1400" b="1" dirty="0">
                          <a:solidFill>
                            <a:srgbClr val="C00000"/>
                          </a:solidFill>
                        </a:endParaRPr>
                      </a:p>
                    </a:txBody>
                    <a:tcPr marL="0" marR="0" marT="0" marB="0"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endParaRPr lang="ko-KR" altLang="en-US" sz="1400" b="1" dirty="0">
                          <a:solidFill>
                            <a:srgbClr val="C00000"/>
                          </a:solidFill>
                        </a:endParaRPr>
                      </a:p>
                    </a:txBody>
                    <a:tcPr marL="0" marR="0" marT="0" marB="0"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endParaRPr lang="ko-KR" altLang="en-US" sz="1400" b="1" dirty="0"/>
                      </a:p>
                    </a:txBody>
                    <a:tcPr marL="0" marR="0" marT="0" marB="0"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endParaRPr lang="ko-KR" altLang="en-US" sz="1400" b="1" dirty="0"/>
                      </a:p>
                    </a:txBody>
                    <a:tcPr marL="0" marR="0" marT="0" marB="0"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3062860355"/>
                    </a:ext>
                  </a:extLst>
                </a:tr>
                <a:tr h="233098">
                  <a:tc vMerge="1">
                    <a:txBody>
                      <a:bodyPr/>
                      <a:lstStyle/>
                      <a:p>
                        <a:endParaRPr/>
                      </a:p>
                    </a:txBody>
                    <a:tcPr marL="0" marR="0" marT="0" marB="0"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ctr" defTabSz="914400" rtl="0" eaLnBrk="1" fontAlgn="auto" latinLnBrk="1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lang="en-US" altLang="ko-KR" sz="900" b="1" dirty="0"/>
                          <a:t>NPC </a:t>
                        </a:r>
                        <a:r>
                          <a:rPr lang="ko-KR" altLang="en-US" sz="900" b="1" dirty="0"/>
                          <a:t>구현</a:t>
                        </a:r>
                      </a:p>
                    </a:txBody>
                    <a:tcPr marL="0" marR="0" marT="0" marB="0"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endParaRPr lang="ko-KR" altLang="en-US" sz="1400" b="1" dirty="0"/>
                      </a:p>
                    </a:txBody>
                    <a:tcPr marL="0" marR="0" marT="0" marB="0"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endParaRPr lang="ko-KR" altLang="en-US" sz="1400" b="1" dirty="0"/>
                      </a:p>
                    </a:txBody>
                    <a:tcPr marL="0" marR="0" marT="0" marB="0"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endParaRPr lang="ko-KR" altLang="en-US" sz="1400" b="1" dirty="0"/>
                      </a:p>
                    </a:txBody>
                    <a:tcPr marL="0" marR="0" marT="0" marB="0"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endParaRPr lang="ko-KR" altLang="en-US" sz="1400" b="1" dirty="0"/>
                      </a:p>
                    </a:txBody>
                    <a:tcPr marL="0" marR="0" marT="0" marB="0"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0070C0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endParaRPr lang="ko-KR" altLang="en-US" sz="1400" b="1" dirty="0">
                          <a:solidFill>
                            <a:srgbClr val="C00000"/>
                          </a:solidFill>
                        </a:endParaRPr>
                      </a:p>
                    </a:txBody>
                    <a:tcPr marL="0" marR="0" marT="0" marB="0"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0070C0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endParaRPr lang="ko-KR" altLang="en-US" sz="1400" b="1" dirty="0">
                          <a:solidFill>
                            <a:srgbClr val="C00000"/>
                          </a:solidFill>
                        </a:endParaRPr>
                      </a:p>
                    </a:txBody>
                    <a:tcPr marL="0" marR="0" marT="0" marB="0"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0070C0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endParaRPr lang="ko-KR" altLang="en-US" sz="1400" b="1" dirty="0"/>
                      </a:p>
                    </a:txBody>
                    <a:tcPr marL="0" marR="0" marT="0" marB="0"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endParaRPr lang="ko-KR" altLang="en-US" sz="1400" b="1" dirty="0"/>
                      </a:p>
                    </a:txBody>
                    <a:tcPr marL="0" marR="0" marT="0" marB="0"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3677200372"/>
                    </a:ext>
                  </a:extLst>
                </a:tr>
                <a:tr h="0">
                  <a:tc>
                    <a:txBody>
                      <a:bodyPr/>
                      <a:lstStyle/>
                      <a:p>
                        <a:pPr marL="0" marR="0" lvl="0" indent="0" algn="ctr" defTabSz="914400" rtl="0" eaLnBrk="1" fontAlgn="auto" latinLnBrk="1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lang="ko-KR" altLang="en-US" sz="1100" b="1" dirty="0"/>
                          <a:t>상점</a:t>
                        </a:r>
                        <a:r>
                          <a:rPr lang="en-US" altLang="ko-KR" sz="1100" b="1" dirty="0"/>
                          <a:t>/</a:t>
                        </a:r>
                        <a:r>
                          <a:rPr lang="ko-KR" altLang="en-US" sz="1100" b="1" dirty="0"/>
                          <a:t>아이템</a:t>
                        </a:r>
                      </a:p>
                    </a:txBody>
                    <a:tcPr marL="0" marR="0" marT="0" marB="0"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ctr" defTabSz="914400" rtl="0" eaLnBrk="1" fontAlgn="auto" latinLnBrk="1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lang="ko-KR" altLang="en-US" sz="900" b="1" dirty="0"/>
                          <a:t>상점</a:t>
                        </a:r>
                        <a:r>
                          <a:rPr lang="en-US" altLang="ko-KR" sz="900" b="1" dirty="0"/>
                          <a:t>/</a:t>
                        </a:r>
                        <a:r>
                          <a:rPr lang="ko-KR" altLang="en-US" sz="900" b="1" dirty="0"/>
                          <a:t>아이템</a:t>
                        </a:r>
                      </a:p>
                    </a:txBody>
                    <a:tcPr marL="0" marR="0" marT="0" marB="0"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endParaRPr lang="ko-KR" altLang="en-US" sz="1400" b="1" dirty="0"/>
                      </a:p>
                    </a:txBody>
                    <a:tcPr marL="0" marR="0" marT="0" marB="0"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endParaRPr lang="ko-KR" altLang="en-US" sz="1400" b="1" dirty="0"/>
                      </a:p>
                    </a:txBody>
                    <a:tcPr marL="0" marR="0" marT="0" marB="0"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endParaRPr lang="ko-KR" altLang="en-US" sz="1400" b="1" dirty="0"/>
                      </a:p>
                    </a:txBody>
                    <a:tcPr marL="0" marR="0" marT="0" marB="0"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endParaRPr lang="ko-KR" altLang="en-US" sz="1400" b="1" dirty="0"/>
                      </a:p>
                    </a:txBody>
                    <a:tcPr marL="0" marR="0" marT="0" marB="0"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endParaRPr lang="ko-KR" altLang="en-US" sz="1400" b="1" dirty="0">
                          <a:solidFill>
                            <a:srgbClr val="C00000"/>
                          </a:solidFill>
                        </a:endParaRPr>
                      </a:p>
                    </a:txBody>
                    <a:tcPr marL="0" marR="0" marT="0" marB="0"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C00000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endParaRPr lang="ko-KR" altLang="en-US" sz="1400" b="1" dirty="0">
                          <a:solidFill>
                            <a:srgbClr val="C00000"/>
                          </a:solidFill>
                        </a:endParaRPr>
                      </a:p>
                    </a:txBody>
                    <a:tcPr marL="0" marR="0" marT="0" marB="0"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C00000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endParaRPr lang="ko-KR" altLang="en-US" sz="1400" b="1" dirty="0"/>
                      </a:p>
                    </a:txBody>
                    <a:tcPr marL="0" marR="0" marT="0" marB="0"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endParaRPr lang="ko-KR" altLang="en-US" sz="1400" b="1" dirty="0"/>
                      </a:p>
                    </a:txBody>
                    <a:tcPr marL="0" marR="0" marT="0" marB="0"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253595017"/>
                    </a:ext>
                  </a:extLst>
                </a:tr>
                <a:tr h="0">
                  <a:tc rowSpan="2">
                    <a:txBody>
                      <a:bodyPr/>
                      <a:lstStyle/>
                      <a:p>
                        <a:pPr marL="0" marR="0" lvl="0" indent="0" algn="ctr" defTabSz="914400" rtl="0" eaLnBrk="1" fontAlgn="auto" latinLnBrk="1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lang="en-US" altLang="ko-KR" sz="1100" b="1" dirty="0"/>
                          <a:t>UI</a:t>
                        </a:r>
                        <a:endParaRPr lang="ko-KR" altLang="en-US" sz="1100" b="1" dirty="0"/>
                      </a:p>
                    </a:txBody>
                    <a:tcPr marL="0" marR="0" marT="0" marB="0"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ctr" defTabSz="914400" rtl="0" eaLnBrk="1" fontAlgn="auto" latinLnBrk="1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lang="ko-KR" altLang="en-US" sz="900" b="1" dirty="0"/>
                          <a:t>인 게임 </a:t>
                        </a:r>
                        <a:r>
                          <a:rPr lang="en-US" altLang="ko-KR" sz="900" b="1" dirty="0"/>
                          <a:t>UI</a:t>
                        </a:r>
                        <a:endParaRPr lang="ko-KR" altLang="en-US" sz="900" b="1" dirty="0"/>
                      </a:p>
                    </a:txBody>
                    <a:tcPr marL="0" marR="0" marT="0" marB="0"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endParaRPr lang="ko-KR" altLang="en-US" sz="1400" b="1" dirty="0"/>
                      </a:p>
                    </a:txBody>
                    <a:tcPr marL="0" marR="0" marT="0" marB="0"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endParaRPr lang="ko-KR" altLang="en-US" sz="1400" b="1" dirty="0"/>
                      </a:p>
                    </a:txBody>
                    <a:tcPr marL="0" marR="0" marT="0" marB="0"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endParaRPr lang="ko-KR" altLang="en-US" sz="1400" b="1" dirty="0"/>
                      </a:p>
                    </a:txBody>
                    <a:tcPr marL="0" marR="0" marT="0" marB="0"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endParaRPr lang="ko-KR" altLang="en-US" sz="1400" b="1" dirty="0"/>
                      </a:p>
                    </a:txBody>
                    <a:tcPr marL="0" marR="0" marT="0" marB="0"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endParaRPr lang="ko-KR" altLang="en-US" sz="1400" b="1" dirty="0">
                          <a:solidFill>
                            <a:srgbClr val="C00000"/>
                          </a:solidFill>
                        </a:endParaRPr>
                      </a:p>
                    </a:txBody>
                    <a:tcPr marL="0" marR="0" marT="0" marB="0"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endParaRPr lang="ko-KR" altLang="en-US" sz="1400" b="1" dirty="0">
                          <a:solidFill>
                            <a:srgbClr val="C00000"/>
                          </a:solidFill>
                        </a:endParaRPr>
                      </a:p>
                    </a:txBody>
                    <a:tcPr marL="0" marR="0" marT="0" marB="0"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C00000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endParaRPr lang="ko-KR" altLang="en-US" sz="1400" b="1" dirty="0"/>
                      </a:p>
                    </a:txBody>
                    <a:tcPr marL="0" marR="0" marT="0" marB="0"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C00000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endParaRPr lang="ko-KR" altLang="en-US" sz="1400" b="1" dirty="0"/>
                      </a:p>
                    </a:txBody>
                    <a:tcPr marL="0" marR="0" marT="0" marB="0"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80332144"/>
                    </a:ext>
                  </a:extLst>
                </a:tr>
                <a:tr h="0">
                  <a:tc vMerge="1">
                    <a:txBody>
                      <a:bodyPr/>
                      <a:lstStyle/>
                      <a:p>
                        <a:pPr marL="0" marR="0" lvl="0" indent="0" algn="ctr" defTabSz="914400" rtl="0" eaLnBrk="1" fontAlgn="auto" latinLnBrk="1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lang="ko-KR" altLang="en-US" sz="1100" b="1" dirty="0"/>
                      </a:p>
                    </a:txBody>
                    <a:tcPr marL="0" marR="0" marT="0" marB="0"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ctr" defTabSz="914400" rtl="0" eaLnBrk="1" fontAlgn="auto" latinLnBrk="1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lang="ko-KR" altLang="en-US" sz="900" b="1" dirty="0"/>
                          <a:t>로비 </a:t>
                        </a:r>
                        <a:r>
                          <a:rPr lang="en-US" altLang="ko-KR" sz="900" b="1" dirty="0"/>
                          <a:t>UI</a:t>
                        </a:r>
                        <a:endParaRPr lang="ko-KR" altLang="en-US" sz="900" b="1" dirty="0"/>
                      </a:p>
                    </a:txBody>
                    <a:tcPr marL="0" marR="0" marT="0" marB="0"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endParaRPr lang="ko-KR" altLang="en-US" sz="1400" b="1" dirty="0"/>
                      </a:p>
                    </a:txBody>
                    <a:tcPr marL="0" marR="0" marT="0" marB="0"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endParaRPr lang="ko-KR" altLang="en-US" sz="1400" b="1" dirty="0"/>
                      </a:p>
                    </a:txBody>
                    <a:tcPr marL="0" marR="0" marT="0" marB="0"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endParaRPr lang="ko-KR" altLang="en-US" sz="1400" b="1" dirty="0"/>
                      </a:p>
                    </a:txBody>
                    <a:tcPr marL="0" marR="0" marT="0" marB="0"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endParaRPr lang="ko-KR" altLang="en-US" sz="1400" b="1" dirty="0"/>
                      </a:p>
                    </a:txBody>
                    <a:tcPr marL="0" marR="0" marT="0" marB="0"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endParaRPr lang="ko-KR" altLang="en-US" sz="1400" b="1" dirty="0">
                          <a:solidFill>
                            <a:srgbClr val="C00000"/>
                          </a:solidFill>
                        </a:endParaRPr>
                      </a:p>
                    </a:txBody>
                    <a:tcPr marL="0" marR="0" marT="0" marB="0"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endParaRPr lang="ko-KR" altLang="en-US" sz="1400" b="1" dirty="0">
                          <a:solidFill>
                            <a:srgbClr val="C00000"/>
                          </a:solidFill>
                        </a:endParaRPr>
                      </a:p>
                    </a:txBody>
                    <a:tcPr marL="0" marR="0" marT="0" marB="0"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endParaRPr lang="ko-KR" altLang="en-US" sz="1400" b="1" dirty="0"/>
                      </a:p>
                    </a:txBody>
                    <a:tcPr marL="0" marR="0" marT="0" marB="0"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C00000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endParaRPr lang="ko-KR" altLang="en-US" sz="1400" b="1" dirty="0"/>
                      </a:p>
                    </a:txBody>
                    <a:tcPr marL="0" marR="0" marT="0" marB="0"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C00000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507805766"/>
                    </a:ext>
                  </a:extLst>
                </a:tr>
                <a:tr h="39529">
                  <a:tc gridSpan="2">
                    <a:txBody>
                      <a:bodyPr/>
                      <a:lstStyle/>
                      <a:p>
                        <a:pPr algn="ctr" latinLnBrk="1"/>
                        <a:r>
                          <a:rPr lang="ko-KR" altLang="en-US" sz="1100" b="1" dirty="0"/>
                          <a:t>테스트 및 안정화</a:t>
                        </a:r>
                      </a:p>
                    </a:txBody>
                    <a:tcPr marL="0" marR="0" marT="0" marB="0"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 hMerge="1">
                    <a:txBody>
                      <a:bodyPr/>
                      <a:lstStyle/>
                      <a:p>
                        <a:pPr algn="ctr" latinLnBrk="1"/>
                        <a:endParaRPr lang="ko-KR" altLang="en-US" sz="900" b="1" dirty="0"/>
                      </a:p>
                    </a:txBody>
                    <a:tcPr marL="0" marR="0" marT="0" marB="0"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endParaRPr lang="ko-KR" altLang="en-US" sz="1400" b="1" dirty="0"/>
                      </a:p>
                    </a:txBody>
                    <a:tcPr marL="0" marR="0" marT="0" marB="0"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endParaRPr lang="ko-KR" altLang="en-US" sz="1400" b="1"/>
                      </a:p>
                    </a:txBody>
                    <a:tcPr marL="0" marR="0" marT="0" marB="0"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endParaRPr lang="ko-KR" altLang="en-US" sz="1400" b="1" dirty="0"/>
                      </a:p>
                    </a:txBody>
                    <a:tcPr marL="0" marR="0" marT="0" marB="0"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endParaRPr lang="ko-KR" altLang="en-US" sz="1400" b="1" dirty="0"/>
                      </a:p>
                    </a:txBody>
                    <a:tcPr marL="0" marR="0" marT="0" marB="0"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endParaRPr lang="ko-KR" altLang="en-US" sz="1400" b="1" dirty="0"/>
                      </a:p>
                    </a:txBody>
                    <a:tcPr marL="0" marR="0" marT="0" marB="0"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endParaRPr lang="ko-KR" altLang="en-US" sz="1400" b="1" dirty="0"/>
                      </a:p>
                    </a:txBody>
                    <a:tcPr marL="0" marR="0" marT="0" marB="0"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endParaRPr lang="ko-KR" altLang="en-US" sz="1400" b="1" dirty="0"/>
                      </a:p>
                    </a:txBody>
                    <a:tcPr marL="0" marR="0" marT="0" marB="0"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endParaRPr lang="ko-KR" altLang="en-US" sz="1400" b="1" dirty="0"/>
                      </a:p>
                    </a:txBody>
                    <a:tcPr marL="0" marR="0" marT="0" marB="0"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3417493171"/>
                    </a:ext>
                  </a:extLst>
                </a:tr>
              </a:tbl>
            </a:graphicData>
          </a:graphic>
        </p:graphicFrame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00267600-116F-67E3-2FF1-3C67AA596216}"/>
                </a:ext>
              </a:extLst>
            </p:cNvPr>
            <p:cNvCxnSpPr>
              <a:cxnSpLocks/>
            </p:cNvCxnSpPr>
            <p:nvPr/>
          </p:nvCxnSpPr>
          <p:spPr>
            <a:xfrm>
              <a:off x="1059873" y="1756288"/>
              <a:ext cx="2637245" cy="260962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3853039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2253</TotalTime>
  <Words>1084</Words>
  <Application>Microsoft Office PowerPoint</Application>
  <PresentationFormat>와이드스크린</PresentationFormat>
  <Paragraphs>215</Paragraphs>
  <Slides>21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21</vt:i4>
      </vt:variant>
    </vt:vector>
  </HeadingPairs>
  <TitlesOfParts>
    <vt:vector size="24" baseType="lpstr">
      <vt:lpstr>맑은 고딕</vt:lpstr>
      <vt:lpstr>Arial</vt:lpstr>
      <vt:lpstr>Office 테마</vt:lpstr>
      <vt:lpstr>League Of Legend: Unreal</vt:lpstr>
      <vt:lpstr>목차</vt:lpstr>
      <vt:lpstr>연구 목적(추가할 내용 있으면 생각)</vt:lpstr>
      <vt:lpstr>게임 소개(간단 설명)</vt:lpstr>
      <vt:lpstr>게임 소개(게임 흐름도)</vt:lpstr>
      <vt:lpstr>게임 소개(맵 소개)</vt:lpstr>
      <vt:lpstr>게임 소개(게임 컨텐츠)</vt:lpstr>
      <vt:lpstr>게임 소개(조작법)</vt:lpstr>
      <vt:lpstr>기술적 요소 및 중점 연구 분야</vt:lpstr>
      <vt:lpstr>전투 시스템(보완)</vt:lpstr>
      <vt:lpstr>전투 시스템 구현 방법</vt:lpstr>
      <vt:lpstr>이동 및 조작 시스템(보완)</vt:lpstr>
      <vt:lpstr>이동 및 조작 시스템 구현 방법</vt:lpstr>
      <vt:lpstr>캐릭터</vt:lpstr>
      <vt:lpstr>AI</vt:lpstr>
      <vt:lpstr>맵 및 게임 규칙 시스템</vt:lpstr>
      <vt:lpstr>네트워크 구조</vt:lpstr>
      <vt:lpstr>UI 시스템(보완 필요)</vt:lpstr>
      <vt:lpstr>개발 환경</vt:lpstr>
      <vt:lpstr>개인별 준비 현황</vt:lpstr>
      <vt:lpstr>역할 분담 및 일정(보완)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League Of Legend: Unreal</dc:title>
  <dc:creator>haejun bae</dc:creator>
  <cp:lastModifiedBy>임성훈(2021182033)</cp:lastModifiedBy>
  <cp:revision>31</cp:revision>
  <dcterms:created xsi:type="dcterms:W3CDTF">2025-12-24T02:27:39Z</dcterms:created>
  <dcterms:modified xsi:type="dcterms:W3CDTF">2026-02-12T06:25:22Z</dcterms:modified>
</cp:coreProperties>
</file>